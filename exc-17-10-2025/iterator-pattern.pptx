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79" r:id="rId4"/>
    <p:sldId id="280" r:id="rId5"/>
    <p:sldId id="278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9" r:id="rId14"/>
    <p:sldId id="290" r:id="rId15"/>
    <p:sldId id="291" r:id="rId16"/>
    <p:sldId id="292" r:id="rId17"/>
    <p:sldId id="293" r:id="rId18"/>
    <p:sldId id="288" r:id="rId19"/>
    <p:sldId id="294" r:id="rId20"/>
    <p:sldId id="295" r:id="rId21"/>
    <p:sldId id="298" r:id="rId22"/>
    <p:sldId id="299" r:id="rId23"/>
    <p:sldId id="296" r:id="rId24"/>
    <p:sldId id="300" r:id="rId25"/>
    <p:sldId id="297" r:id="rId26"/>
    <p:sldId id="301" r:id="rId27"/>
    <p:sldId id="263" r:id="rId28"/>
  </p:sldIdLst>
  <p:sldSz cx="12192000" cy="6858000"/>
  <p:notesSz cx="6858000" cy="9144000"/>
  <p:defaultTextStyle>
    <a:defPPr>
      <a:defRPr lang="en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04A331-C7FA-B94F-B3F0-C603C082CEB8}" v="21" dt="2025-10-09T13:17:43.66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–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–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D083AE6-46FA-4A59-8FB0-9F97EB10719F}" styleName="Light Style 3 –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–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8FB837D-C827-4EFA-A057-4D05807E0F7C}" styleName="Themed Style 1 –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75DCB02-9BB8-47FD-8907-85C794F793BA}" styleName="Themed Style 1 –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E171933-4619-4E11-9A3F-F7608DF75F80}" styleName="Medium Style 1 –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–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72490"/>
  </p:normalViewPr>
  <p:slideViewPr>
    <p:cSldViewPr snapToGrid="0">
      <p:cViewPr varScale="1">
        <p:scale>
          <a:sx n="90" d="100"/>
          <a:sy n="90" d="100"/>
        </p:scale>
        <p:origin x="76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81E9C3-53A8-7F40-92D9-23B022F026FD}" type="datetimeFigureOut">
              <a:rPr lang="en-BG" smtClean="0"/>
              <a:t>14.11.25</a:t>
            </a:fld>
            <a:endParaRPr lang="en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736D7A-D04B-E441-BC68-607765681E78}" type="slidenum">
              <a:rPr lang="en-BG" smtClean="0"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613449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1F48E-F91A-6DD5-ED36-0CE6B19B8F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B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9FCC5C-E999-6A73-AFB6-E76C2667D1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5AD6A-5882-9FA5-A735-32805D43D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BE62E-49E1-5A44-9598-D1149CCDA360}" type="datetimeFigureOut">
              <a:rPr lang="en-BG" smtClean="0"/>
              <a:t>14.11.25</a:t>
            </a:fld>
            <a:endParaRPr lang="en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3F0E96-42E2-39EA-1F6D-5655A939B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E7B2D4-99A2-6959-BFF1-AC24590FE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507EC-556A-F744-B36E-4B7A6FFACD44}" type="slidenum">
              <a:rPr lang="en-BG" smtClean="0"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065738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33DFF-2FC1-E26D-EEEB-B20624454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2DE934-5C61-75ED-443A-B1F99DF703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5E995-EB24-C5C9-9CDE-442170769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BE62E-49E1-5A44-9598-D1149CCDA360}" type="datetimeFigureOut">
              <a:rPr lang="en-BG" smtClean="0"/>
              <a:t>14.11.25</a:t>
            </a:fld>
            <a:endParaRPr lang="en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374FEC-8A78-DAD4-39B4-2E558DCE8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1CB240-9B7C-1B1B-DC52-1F04944A7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507EC-556A-F744-B36E-4B7A6FFACD44}" type="slidenum">
              <a:rPr lang="en-BG" smtClean="0"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430860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73099-2602-522C-A69A-BFF4C5487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B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EE9A4E-B755-3038-9395-1D40AEE818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9D56A-CF0D-BCC0-A61D-0B105ADE7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BE62E-49E1-5A44-9598-D1149CCDA360}" type="datetimeFigureOut">
              <a:rPr lang="en-BG" smtClean="0"/>
              <a:t>14.11.25</a:t>
            </a:fld>
            <a:endParaRPr lang="en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D0553A-BE97-82D6-6C33-5E775E106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784F8F-835E-30F4-691B-2F76EA19C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507EC-556A-F744-B36E-4B7A6FFACD44}" type="slidenum">
              <a:rPr lang="en-BG" smtClean="0"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544593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4F449-95A2-8362-E33A-C322C07FC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D711C-89FF-95F5-996E-9C8DC29611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94DE14-F93A-52F7-A766-C7D66DF9B8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0CAE68-6FAF-472F-2F18-7522E14A2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BE62E-49E1-5A44-9598-D1149CCDA360}" type="datetimeFigureOut">
              <a:rPr lang="en-BG" smtClean="0"/>
              <a:t>14.11.25</a:t>
            </a:fld>
            <a:endParaRPr lang="en-B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E15F54-4D0C-97B1-F2BB-043F996FA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85B24B-3281-C8D2-9A35-788DE13E9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507EC-556A-F744-B36E-4B7A6FFACD44}" type="slidenum">
              <a:rPr lang="en-BG" smtClean="0"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347834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C9E33-5494-A297-12A4-0559F62E7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B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08741A-F54F-96AF-DFEE-D508028C0C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DAFA9C-4DC2-8F3A-FA34-9449F06D98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C88E90-AEF8-54DD-18E5-272DE2A527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6B76E2-6329-439A-1423-27A8DBCE22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F1241A-B3FA-9A72-5807-A317C1C4C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BE62E-49E1-5A44-9598-D1149CCDA360}" type="datetimeFigureOut">
              <a:rPr lang="en-BG" smtClean="0"/>
              <a:t>14.11.25</a:t>
            </a:fld>
            <a:endParaRPr lang="en-B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BE9F74-8C57-C76D-0F8E-3BDE188C2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3952DF-0D16-5D5E-DE4C-97CE4352F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507EC-556A-F744-B36E-4B7A6FFACD44}" type="slidenum">
              <a:rPr lang="en-BG" smtClean="0"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569732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51CFC-3E37-459F-9B79-E2F42DFE4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15CA6F-5881-31AE-B049-C6F416C7E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BE62E-49E1-5A44-9598-D1149CCDA360}" type="datetimeFigureOut">
              <a:rPr lang="en-BG" smtClean="0"/>
              <a:t>14.11.25</a:t>
            </a:fld>
            <a:endParaRPr lang="en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F08ECC-1163-86DD-14FC-5E0148EE2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06F237-B831-1137-93EE-4C217F7D0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507EC-556A-F744-B36E-4B7A6FFACD44}" type="slidenum">
              <a:rPr lang="en-BG" smtClean="0"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840358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58FBB1-5D71-C75B-BA7E-BF311E973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BE62E-49E1-5A44-9598-D1149CCDA360}" type="datetimeFigureOut">
              <a:rPr lang="en-BG" smtClean="0"/>
              <a:t>14.11.25</a:t>
            </a:fld>
            <a:endParaRPr lang="en-B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39C4B1-506C-613A-BAC7-32B90E229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52E2E1-C3D0-2A97-28BF-34ADBFAFD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507EC-556A-F744-B36E-4B7A6FFACD44}" type="slidenum">
              <a:rPr lang="en-BG" smtClean="0"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245360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4BB92-236C-FCC9-D71F-EE91C2F67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B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C403D-337D-6B38-01C7-6BCE82EA5D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58D48A-5492-F355-73AC-75AB3D321E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242C32-DA40-23BA-AA31-724668EE0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BE62E-49E1-5A44-9598-D1149CCDA360}" type="datetimeFigureOut">
              <a:rPr lang="en-BG" smtClean="0"/>
              <a:t>14.11.25</a:t>
            </a:fld>
            <a:endParaRPr lang="en-B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F7D240-788B-0A11-ACD6-D78620FBA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547F63-A0E8-F613-A9A8-57D14EFE4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507EC-556A-F744-B36E-4B7A6FFACD44}" type="slidenum">
              <a:rPr lang="en-BG" smtClean="0"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332756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BD5A4-C985-7669-86FC-5D56C749E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B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B86AC7-7B35-3503-B46B-481F60B73B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6D0FA3-2951-9674-9919-880A41945F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759633-0C1B-DFC6-05AF-D98CD9376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BE62E-49E1-5A44-9598-D1149CCDA360}" type="datetimeFigureOut">
              <a:rPr lang="en-BG" smtClean="0"/>
              <a:t>14.11.25</a:t>
            </a:fld>
            <a:endParaRPr lang="en-B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FEAF24-94E8-1F23-F69D-99387F7B8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2835EB-1F4F-1B25-5229-40218A4F8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507EC-556A-F744-B36E-4B7A6FFACD44}" type="slidenum">
              <a:rPr lang="en-BG" smtClean="0"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049944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87235-040F-D421-2FC9-6819FA042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ED61BB-B94B-9068-7F25-B213C989BB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5602BF-0E52-B390-ECFA-2EC4B2240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BE62E-49E1-5A44-9598-D1149CCDA360}" type="datetimeFigureOut">
              <a:rPr lang="en-BG" smtClean="0"/>
              <a:t>14.11.25</a:t>
            </a:fld>
            <a:endParaRPr lang="en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F4E1DF-C61F-2572-9E0B-D367B0289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871AB-5B52-C39E-A21D-37828AD19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507EC-556A-F744-B36E-4B7A6FFACD44}" type="slidenum">
              <a:rPr lang="en-BG" smtClean="0"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11210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62EAEB-882A-8536-4963-4E163A43B3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B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9782D7-386E-0F21-32E2-C65A091A58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0A4CC6-614B-3FF6-8E6D-DED20D392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BE62E-49E1-5A44-9598-D1149CCDA360}" type="datetimeFigureOut">
              <a:rPr lang="en-BG" smtClean="0"/>
              <a:t>14.11.25</a:t>
            </a:fld>
            <a:endParaRPr lang="en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CFD10-5A80-AA3E-FDD5-8F8D31D57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50AE87-8162-F1F5-45AF-FAFE573F5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507EC-556A-F744-B36E-4B7A6FFACD44}" type="slidenum">
              <a:rPr lang="en-BG" smtClean="0"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230738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C9655F-E1C6-72E4-94A8-A13B2A3C3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B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90B977-841F-229A-F658-885E90BEF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8C65B-C01D-AE14-31F6-D1A17C34D5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ABE62E-49E1-5A44-9598-D1149CCDA360}" type="datetimeFigureOut">
              <a:rPr lang="en-BG" smtClean="0"/>
              <a:t>14.11.25</a:t>
            </a:fld>
            <a:endParaRPr lang="en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C67AC-D148-8BE2-7A01-7609020485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9F4ECC-6DC8-1DD4-9984-198DEB0121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C507EC-556A-F744-B36E-4B7A6FFACD44}" type="slidenum">
              <a:rPr lang="en-BG" smtClean="0"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569309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cpp/how-to-implement-our-own-vector-class-in-c/" TargetMode="External"/><Relationship Id="rId2" Type="http://schemas.openxmlformats.org/officeDocument/2006/relationships/hyperlink" Target="https://www.geeksforgeeks.org/cpp/program-to-implement-singly-linked-list-in-c-using-class/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system-design/proxy-pattern-c-design-patterns/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cs.up.ac.za/cs/lmarshall/TDP/Notes/_Chapter15_Iterator.pdf" TargetMode="External"/><Relationship Id="rId3" Type="http://schemas.openxmlformats.org/officeDocument/2006/relationships/hyperlink" Target="https://www.geeksforgeeks.org/cpp/introduction-iterators-c/" TargetMode="External"/><Relationship Id="rId7" Type="http://schemas.openxmlformats.org/officeDocument/2006/relationships/hyperlink" Target="https://www.learncpp.com/cpp-tutorial/introduction-to-iterators/" TargetMode="External"/><Relationship Id="rId2" Type="http://schemas.openxmlformats.org/officeDocument/2006/relationships/hyperlink" Target="https://www.w3schools.com/cpp/cpp_iterators.asp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tackoverflow.com/questions/27583945/c-iterator-vector-struct" TargetMode="External"/><Relationship Id="rId11" Type="http://schemas.openxmlformats.org/officeDocument/2006/relationships/hyperlink" Target="https://dotnettutorials.net/lesson/iterators-in-cpp/" TargetMode="External"/><Relationship Id="rId5" Type="http://schemas.openxmlformats.org/officeDocument/2006/relationships/hyperlink" Target="https://refactoring.guru/design-patterns/iterator" TargetMode="External"/><Relationship Id="rId10" Type="http://schemas.openxmlformats.org/officeDocument/2006/relationships/hyperlink" Target="https://www.programiz.com/cpp-programming/iterators" TargetMode="External"/><Relationship Id="rId4" Type="http://schemas.openxmlformats.org/officeDocument/2006/relationships/hyperlink" Target="https://courses.grainger.illinois.edu/cs225/fa2022/resources/iterators/" TargetMode="External"/><Relationship Id="rId9" Type="http://schemas.openxmlformats.org/officeDocument/2006/relationships/hyperlink" Target="https://sourcemaking.com/design_patterns/iterato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EE0DA-81A0-A6AA-0E7C-C6E186A85E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bg-BG" dirty="0" err="1"/>
              <a:t>Итератори</a:t>
            </a:r>
            <a:r>
              <a:rPr lang="bg-BG" dirty="0"/>
              <a:t> в </a:t>
            </a:r>
            <a:r>
              <a:rPr lang="en-GB" dirty="0"/>
              <a:t>C++</a:t>
            </a:r>
            <a:endParaRPr lang="en-B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CC422A-8DA7-B310-9237-78248B4B11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BG" dirty="0"/>
          </a:p>
        </p:txBody>
      </p:sp>
    </p:spTree>
    <p:extLst>
      <p:ext uri="{BB962C8B-B14F-4D97-AF65-F5344CB8AC3E}">
        <p14:creationId xmlns:p14="http://schemas.microsoft.com/office/powerpoint/2010/main" val="2341630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AFD60-0398-5FDA-C79E-F4D6671D0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600" dirty="0"/>
              <a:t>Каква е </a:t>
            </a:r>
            <a:r>
              <a:rPr lang="bg-BG" sz="3600" dirty="0" err="1"/>
              <a:t>Итератор</a:t>
            </a:r>
            <a:r>
              <a:rPr lang="bg-BG" sz="3600" dirty="0"/>
              <a:t>?</a:t>
            </a:r>
            <a:endParaRPr lang="en-BG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5F614-1FDF-BB43-0D67-5242CB0072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605838" cy="4351338"/>
          </a:xfrm>
        </p:spPr>
        <p:txBody>
          <a:bodyPr>
            <a:normAutofit/>
          </a:bodyPr>
          <a:lstStyle/>
          <a:p>
            <a:r>
              <a:rPr lang="bg-BG" sz="2000" dirty="0" err="1"/>
              <a:t>Итераторът</a:t>
            </a:r>
            <a:r>
              <a:rPr lang="bg-BG" sz="2000" dirty="0"/>
              <a:t> е обект, който сочи към елемент в контейнер</a:t>
            </a:r>
          </a:p>
          <a:p>
            <a:r>
              <a:rPr lang="bg-BG" sz="2000" dirty="0"/>
              <a:t>Позволява последователно обхождане на елементите</a:t>
            </a:r>
          </a:p>
          <a:p>
            <a:r>
              <a:rPr lang="bg-BG" sz="2000" dirty="0"/>
              <a:t>Работи като "умен указател" с допълнителна функционалност</a:t>
            </a:r>
            <a:endParaRPr lang="en-BG" sz="2000" dirty="0"/>
          </a:p>
        </p:txBody>
      </p:sp>
      <p:pic>
        <p:nvPicPr>
          <p:cNvPr id="4" name="Picture 2" descr="C++ Iterators">
            <a:extLst>
              <a:ext uri="{FF2B5EF4-FFF2-40B4-BE49-F238E27FC236}">
                <a16:creationId xmlns:a16="http://schemas.microsoft.com/office/drawing/2014/main" id="{1D819515-E325-9891-EFBC-2022A87921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3100" y="3370263"/>
            <a:ext cx="8305800" cy="280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8675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6AFC1-D80B-E3C3-AF87-9BDB0D266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247F0-FA87-CE2B-E295-1D95266D1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600" dirty="0"/>
              <a:t>Защо Използваме </a:t>
            </a:r>
            <a:r>
              <a:rPr lang="bg-BG" sz="3600" dirty="0" err="1"/>
              <a:t>Итератори</a:t>
            </a:r>
            <a:r>
              <a:rPr lang="bg-BG" sz="3600" dirty="0"/>
              <a:t>?</a:t>
            </a:r>
            <a:endParaRPr lang="en-BG" sz="36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A72AB83-57F9-EA6F-03D2-9B1A6BFADB3A}"/>
              </a:ext>
            </a:extLst>
          </p:cNvPr>
          <p:cNvSpPr txBox="1">
            <a:spLocks/>
          </p:cNvSpPr>
          <p:nvPr/>
        </p:nvSpPr>
        <p:spPr>
          <a:xfrm>
            <a:off x="490537" y="1849438"/>
            <a:ext cx="459105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bg-BG" sz="2400" b="1" dirty="0">
                <a:solidFill>
                  <a:srgbClr val="FF0000"/>
                </a:solidFill>
              </a:rPr>
              <a:t>Проблеми:</a:t>
            </a:r>
            <a:endParaRPr lang="bg-BG" sz="2000" dirty="0"/>
          </a:p>
          <a:p>
            <a:r>
              <a:rPr lang="bg-BG" sz="2000" dirty="0"/>
              <a:t>Различен код за </a:t>
            </a:r>
            <a:r>
              <a:rPr lang="bg-BG" sz="2000" dirty="0" err="1"/>
              <a:t>обходждане</a:t>
            </a:r>
            <a:r>
              <a:rPr lang="bg-BG" sz="2000" dirty="0"/>
              <a:t> при различни контейнери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A0A6094-A013-4611-5536-A9CD983311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0900" y="1412875"/>
            <a:ext cx="5422900" cy="5080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5418C5E-F6F4-CD32-6B4D-EB1DCE38B6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445" y="3190875"/>
            <a:ext cx="4368800" cy="330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581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0B5ED-9555-4A57-1EFE-1B024F3A6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CBA13-6442-CDBF-B0DF-E06D1BAE2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600" dirty="0"/>
              <a:t>Защо Използваме </a:t>
            </a:r>
            <a:r>
              <a:rPr lang="bg-BG" sz="3600" dirty="0" err="1"/>
              <a:t>Итератори</a:t>
            </a:r>
            <a:r>
              <a:rPr lang="bg-BG" sz="3600" dirty="0"/>
              <a:t>?</a:t>
            </a:r>
            <a:endParaRPr lang="en-BG" sz="36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58B868B-8E26-8A03-1175-7158F399B2CE}"/>
              </a:ext>
            </a:extLst>
          </p:cNvPr>
          <p:cNvSpPr txBox="1">
            <a:spLocks/>
          </p:cNvSpPr>
          <p:nvPr/>
        </p:nvSpPr>
        <p:spPr>
          <a:xfrm>
            <a:off x="490537" y="1849438"/>
            <a:ext cx="459105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bg-BG" sz="2400" b="1" dirty="0">
                <a:solidFill>
                  <a:srgbClr val="FF0000"/>
                </a:solidFill>
              </a:rPr>
              <a:t>Проблеми:</a:t>
            </a:r>
            <a:endParaRPr lang="bg-BG" sz="2000" dirty="0"/>
          </a:p>
          <a:p>
            <a:r>
              <a:rPr lang="bg-BG" sz="2000" dirty="0"/>
              <a:t>Различен код за </a:t>
            </a:r>
            <a:r>
              <a:rPr lang="bg-BG" sz="2000" dirty="0" err="1"/>
              <a:t>обходждане</a:t>
            </a:r>
            <a:r>
              <a:rPr lang="bg-BG" sz="2000" dirty="0"/>
              <a:t> при различни контейнери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63A67B-D798-6351-EBD7-1644DD7CD6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148" y="3295651"/>
            <a:ext cx="8449703" cy="3063875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AF670FA-BE63-66B5-2DDD-564C9AA544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0349" y="1982788"/>
            <a:ext cx="434816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bg-BG" sz="2400" b="1" dirty="0">
                <a:solidFill>
                  <a:schemeClr val="accent6"/>
                </a:solidFill>
              </a:rPr>
              <a:t>Решението с </a:t>
            </a:r>
            <a:r>
              <a:rPr lang="bg-BG" sz="2400" b="1" dirty="0" err="1">
                <a:solidFill>
                  <a:schemeClr val="accent6"/>
                </a:solidFill>
              </a:rPr>
              <a:t>Итератор</a:t>
            </a:r>
            <a:r>
              <a:rPr lang="bg-BG" sz="2400" b="1" dirty="0">
                <a:solidFill>
                  <a:schemeClr val="accent6"/>
                </a:solidFill>
              </a:rPr>
              <a:t>:</a:t>
            </a:r>
            <a:endParaRPr lang="bg-BG" sz="2000" dirty="0"/>
          </a:p>
          <a:p>
            <a:r>
              <a:rPr lang="bg-BG" sz="2000" dirty="0"/>
              <a:t>Един интерфейс за всички контейнери</a:t>
            </a:r>
          </a:p>
        </p:txBody>
      </p:sp>
    </p:spTree>
    <p:extLst>
      <p:ext uri="{BB962C8B-B14F-4D97-AF65-F5344CB8AC3E}">
        <p14:creationId xmlns:p14="http://schemas.microsoft.com/office/powerpoint/2010/main" val="2273042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4DEF1-632C-6E9B-C3F3-5DEC4A50D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8D103-D3EA-B03C-EE5E-2FE3C530A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600" dirty="0"/>
              <a:t>Защо Използваме </a:t>
            </a:r>
            <a:r>
              <a:rPr lang="bg-BG" sz="3600" dirty="0" err="1"/>
              <a:t>Итератори</a:t>
            </a:r>
            <a:r>
              <a:rPr lang="bg-BG" sz="3600" dirty="0"/>
              <a:t>?</a:t>
            </a:r>
            <a:endParaRPr lang="en-BG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93FBF-31FA-5D17-0528-7C3A4479A9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0349" y="1982788"/>
            <a:ext cx="434816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bg-BG" sz="2400" b="1" dirty="0">
                <a:solidFill>
                  <a:schemeClr val="accent6"/>
                </a:solidFill>
              </a:rPr>
              <a:t>Решението с </a:t>
            </a:r>
            <a:r>
              <a:rPr lang="bg-BG" sz="2400" b="1" dirty="0" err="1">
                <a:solidFill>
                  <a:schemeClr val="accent6"/>
                </a:solidFill>
              </a:rPr>
              <a:t>Итератор</a:t>
            </a:r>
            <a:r>
              <a:rPr lang="bg-BG" sz="2400" b="1" dirty="0">
                <a:solidFill>
                  <a:schemeClr val="accent6"/>
                </a:solidFill>
              </a:rPr>
              <a:t>:</a:t>
            </a:r>
          </a:p>
          <a:p>
            <a:pPr marL="0" indent="0">
              <a:buNone/>
            </a:pPr>
            <a:endParaRPr lang="bg-BG" sz="2000" dirty="0"/>
          </a:p>
          <a:p>
            <a:r>
              <a:rPr lang="bg-BG" sz="2000" dirty="0"/>
              <a:t>Един интерфейс за всички контейнери</a:t>
            </a:r>
          </a:p>
          <a:p>
            <a:r>
              <a:rPr lang="bg-BG" sz="2000" dirty="0"/>
              <a:t>Скрива детайли за имплементацията</a:t>
            </a:r>
          </a:p>
          <a:p>
            <a:r>
              <a:rPr lang="bg-BG" sz="2000" dirty="0"/>
              <a:t>Лесно </a:t>
            </a:r>
            <a:r>
              <a:rPr lang="bg-BG" sz="2000" dirty="0" err="1"/>
              <a:t>преизползване</a:t>
            </a:r>
            <a:r>
              <a:rPr lang="bg-BG" sz="2000" dirty="0"/>
              <a:t> на код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4A30CC7-2FE4-020B-9E83-B2E1E91FC488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459105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bg-BG" sz="2400" b="1" dirty="0">
                <a:solidFill>
                  <a:srgbClr val="FF0000"/>
                </a:solidFill>
              </a:rPr>
              <a:t>Проблеми: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bg-BG" sz="2000" dirty="0"/>
          </a:p>
          <a:p>
            <a:r>
              <a:rPr lang="bg-BG" sz="2000" dirty="0"/>
              <a:t>Различен код за </a:t>
            </a:r>
            <a:r>
              <a:rPr lang="bg-BG" sz="2000" dirty="0" err="1"/>
              <a:t>обходждане</a:t>
            </a:r>
            <a:r>
              <a:rPr lang="bg-BG" sz="2000" dirty="0"/>
              <a:t> при различни контейнери</a:t>
            </a:r>
          </a:p>
          <a:p>
            <a:r>
              <a:rPr lang="bg-BG" sz="2000" dirty="0"/>
              <a:t>Необходимо е да знаем вътрешната структура на контейнера</a:t>
            </a:r>
          </a:p>
          <a:p>
            <a:r>
              <a:rPr lang="bg-BG" sz="2000" dirty="0"/>
              <a:t>Кода е по-труден за поддръжка</a:t>
            </a:r>
            <a:endParaRPr lang="en-BG" sz="2000" dirty="0"/>
          </a:p>
        </p:txBody>
      </p:sp>
    </p:spTree>
    <p:extLst>
      <p:ext uri="{BB962C8B-B14F-4D97-AF65-F5344CB8AC3E}">
        <p14:creationId xmlns:p14="http://schemas.microsoft.com/office/powerpoint/2010/main" val="3741388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55955-518E-887F-3081-25B9EBDA0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F2954-D76A-713F-60FC-832B58337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600" dirty="0"/>
              <a:t>Основни Операции на </a:t>
            </a:r>
            <a:r>
              <a:rPr lang="bg-BG" sz="3600" dirty="0" err="1"/>
              <a:t>Итератор</a:t>
            </a:r>
            <a:endParaRPr lang="en-BG" sz="36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E357A94-BA1F-2C3C-2CD1-5D1DD0E8206D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860583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bg-BG" sz="2000" dirty="0"/>
              <a:t>Методи на контейнера:</a:t>
            </a:r>
          </a:p>
          <a:p>
            <a:r>
              <a:rPr lang="en-US" sz="2000" dirty="0"/>
              <a:t>being() – </a:t>
            </a:r>
            <a:r>
              <a:rPr lang="bg-BG" sz="2000" dirty="0" err="1"/>
              <a:t>итератор</a:t>
            </a:r>
            <a:r>
              <a:rPr lang="bg-BG" sz="2000" dirty="0"/>
              <a:t> към първия елемент</a:t>
            </a:r>
          </a:p>
          <a:p>
            <a:r>
              <a:rPr lang="en-US" sz="2000" dirty="0"/>
              <a:t>end() – </a:t>
            </a:r>
            <a:r>
              <a:rPr lang="bg-BG" sz="2000" dirty="0" err="1"/>
              <a:t>итератор</a:t>
            </a:r>
            <a:r>
              <a:rPr lang="bg-BG" sz="2000" dirty="0"/>
              <a:t> „един след последния елемент“</a:t>
            </a:r>
          </a:p>
          <a:p>
            <a:pPr marL="0" indent="0">
              <a:buNone/>
            </a:pPr>
            <a:endParaRPr lang="bg-BG" sz="2000" dirty="0"/>
          </a:p>
          <a:p>
            <a:pPr marL="0" indent="0">
              <a:buNone/>
            </a:pPr>
            <a:r>
              <a:rPr lang="bg-BG" sz="2000" dirty="0"/>
              <a:t>Трите основни неща, които </a:t>
            </a:r>
            <a:r>
              <a:rPr lang="bg-BG" sz="2000" dirty="0" err="1"/>
              <a:t>итераторът</a:t>
            </a:r>
            <a:r>
              <a:rPr lang="bg-BG" sz="2000" dirty="0"/>
              <a:t> прави:</a:t>
            </a:r>
          </a:p>
          <a:p>
            <a:r>
              <a:rPr lang="bg-BG" sz="2000" dirty="0" err="1"/>
              <a:t>Дереференция</a:t>
            </a:r>
            <a:r>
              <a:rPr lang="bg-BG" sz="2000" dirty="0"/>
              <a:t> (</a:t>
            </a:r>
            <a:r>
              <a:rPr lang="en-US" sz="2000" dirty="0"/>
              <a:t>*it</a:t>
            </a:r>
            <a:r>
              <a:rPr lang="bg-BG" sz="2000" dirty="0"/>
              <a:t>)</a:t>
            </a:r>
            <a:r>
              <a:rPr lang="en-US" sz="2000" dirty="0"/>
              <a:t> </a:t>
            </a:r>
            <a:r>
              <a:rPr lang="bg-BG" sz="2000" dirty="0"/>
              <a:t>– дава стойността на елемента</a:t>
            </a:r>
          </a:p>
          <a:p>
            <a:r>
              <a:rPr lang="bg-BG" sz="2000" dirty="0" err="1"/>
              <a:t>Инкрементиране</a:t>
            </a:r>
            <a:r>
              <a:rPr lang="bg-BG" sz="2000" dirty="0"/>
              <a:t> (</a:t>
            </a:r>
            <a:r>
              <a:rPr lang="en-US" sz="2000" dirty="0"/>
              <a:t>++it</a:t>
            </a:r>
            <a:r>
              <a:rPr lang="bg-BG" sz="2000" dirty="0"/>
              <a:t>)</a:t>
            </a:r>
            <a:r>
              <a:rPr lang="en-US" sz="2000" dirty="0"/>
              <a:t> – </a:t>
            </a:r>
            <a:r>
              <a:rPr lang="bg-BG" sz="2000" dirty="0"/>
              <a:t>премества се към следващия елемент</a:t>
            </a:r>
          </a:p>
          <a:p>
            <a:r>
              <a:rPr lang="bg-BG" sz="2000" dirty="0"/>
              <a:t>Сравнение (</a:t>
            </a:r>
            <a:r>
              <a:rPr lang="en-US" sz="2000" dirty="0"/>
              <a:t>==, !=</a:t>
            </a:r>
            <a:r>
              <a:rPr lang="bg-BG" sz="2000" dirty="0"/>
              <a:t>)</a:t>
            </a:r>
            <a:r>
              <a:rPr lang="en-US" sz="2000" dirty="0"/>
              <a:t> </a:t>
            </a:r>
            <a:r>
              <a:rPr lang="bg-BG" sz="2000" dirty="0"/>
              <a:t>– проверява позицията</a:t>
            </a:r>
          </a:p>
        </p:txBody>
      </p:sp>
    </p:spTree>
    <p:extLst>
      <p:ext uri="{BB962C8B-B14F-4D97-AF65-F5344CB8AC3E}">
        <p14:creationId xmlns:p14="http://schemas.microsoft.com/office/powerpoint/2010/main" val="42488122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6E911-EEAD-A1AA-2B8C-D4CF4C1B1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97030-6BBA-CE54-CD4C-47DD82B23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600" dirty="0"/>
              <a:t>Основни Операции на </a:t>
            </a:r>
            <a:r>
              <a:rPr lang="bg-BG" sz="3600" dirty="0" err="1"/>
              <a:t>Итератор</a:t>
            </a:r>
            <a:br>
              <a:rPr lang="bg-BG" sz="3600" dirty="0"/>
            </a:br>
            <a:r>
              <a:rPr lang="bg-BG" sz="2800" dirty="0"/>
              <a:t>Пример – Масив</a:t>
            </a:r>
            <a:endParaRPr lang="en-BG" sz="36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7AB3600-7656-427C-C63A-92A6FA200E1A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860583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BG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7A6F7F-FD05-F683-6E0D-BE0323FB2C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693" y="2057401"/>
            <a:ext cx="4800600" cy="2311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408B229-AB84-524A-F56C-B12633810F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2915" y="2057401"/>
            <a:ext cx="6986392" cy="4119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870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056AC-88DA-11F2-C14E-5F088A0FE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C1251-AA90-D3BC-9867-7781D6379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600" dirty="0"/>
              <a:t>Основни Операции на </a:t>
            </a:r>
            <a:r>
              <a:rPr lang="bg-BG" sz="3600" dirty="0" err="1"/>
              <a:t>Итератор</a:t>
            </a:r>
            <a:br>
              <a:rPr lang="bg-BG" sz="3600" dirty="0"/>
            </a:br>
            <a:r>
              <a:rPr lang="bg-BG" sz="2800" dirty="0"/>
              <a:t>Пример – Динамичен Масив</a:t>
            </a:r>
            <a:endParaRPr lang="en-BG" sz="36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5F3E984-0527-3ECE-B31E-2FA25FE75712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860583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BG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7D5D8F-910F-04ED-2DD3-BAFE2CAB58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464" y="1960562"/>
            <a:ext cx="817307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6245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3325A-D5CA-D954-6BE6-14C14DF07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BD6B6-BFF7-5591-0177-E47E9CA50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600" dirty="0"/>
              <a:t>Основни Операции на </a:t>
            </a:r>
            <a:r>
              <a:rPr lang="bg-BG" sz="3600" dirty="0" err="1"/>
              <a:t>Итератор</a:t>
            </a:r>
            <a:endParaRPr lang="en-BG" sz="36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8ED9908-0164-B091-0BFC-1841C34280F0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860583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bg-BG" sz="2000" dirty="0"/>
              <a:t>Методи на контейнера:</a:t>
            </a:r>
          </a:p>
          <a:p>
            <a:r>
              <a:rPr lang="en-US" sz="2000" dirty="0"/>
              <a:t>being() – </a:t>
            </a:r>
            <a:r>
              <a:rPr lang="bg-BG" sz="2000" dirty="0" err="1"/>
              <a:t>итератор</a:t>
            </a:r>
            <a:r>
              <a:rPr lang="bg-BG" sz="2000" dirty="0"/>
              <a:t> към първия елемент</a:t>
            </a:r>
          </a:p>
          <a:p>
            <a:r>
              <a:rPr lang="en-US" sz="2000" dirty="0"/>
              <a:t>end() – </a:t>
            </a:r>
            <a:r>
              <a:rPr lang="bg-BG" sz="2000" dirty="0" err="1"/>
              <a:t>итератор</a:t>
            </a:r>
            <a:r>
              <a:rPr lang="bg-BG" sz="2000" dirty="0"/>
              <a:t> „един след последния елемент“</a:t>
            </a:r>
          </a:p>
          <a:p>
            <a:pPr marL="0" indent="0">
              <a:buNone/>
            </a:pPr>
            <a:endParaRPr lang="bg-BG" sz="2000" dirty="0"/>
          </a:p>
          <a:p>
            <a:pPr marL="0" indent="0">
              <a:buNone/>
            </a:pPr>
            <a:r>
              <a:rPr lang="bg-BG" sz="2000" dirty="0"/>
              <a:t>Трите основни неща, които </a:t>
            </a:r>
            <a:r>
              <a:rPr lang="bg-BG" sz="2000" dirty="0" err="1"/>
              <a:t>итераторът</a:t>
            </a:r>
            <a:r>
              <a:rPr lang="bg-BG" sz="2000" dirty="0"/>
              <a:t> прави:</a:t>
            </a:r>
          </a:p>
          <a:p>
            <a:r>
              <a:rPr lang="bg-BG" sz="2000" dirty="0" err="1"/>
              <a:t>Дереференция</a:t>
            </a:r>
            <a:r>
              <a:rPr lang="bg-BG" sz="2000" dirty="0"/>
              <a:t> (</a:t>
            </a:r>
            <a:r>
              <a:rPr lang="en-US" sz="2000" dirty="0"/>
              <a:t>*it</a:t>
            </a:r>
            <a:r>
              <a:rPr lang="bg-BG" sz="2000" dirty="0"/>
              <a:t>)</a:t>
            </a:r>
            <a:r>
              <a:rPr lang="en-US" sz="2000" dirty="0"/>
              <a:t> </a:t>
            </a:r>
            <a:r>
              <a:rPr lang="bg-BG" sz="2000" dirty="0"/>
              <a:t>– дава стойността на елемента</a:t>
            </a:r>
          </a:p>
          <a:p>
            <a:r>
              <a:rPr lang="bg-BG" sz="2000" dirty="0" err="1"/>
              <a:t>Инкрементиране</a:t>
            </a:r>
            <a:r>
              <a:rPr lang="bg-BG" sz="2000" dirty="0"/>
              <a:t> (</a:t>
            </a:r>
            <a:r>
              <a:rPr lang="en-US" sz="2000" dirty="0"/>
              <a:t>++it</a:t>
            </a:r>
            <a:r>
              <a:rPr lang="bg-BG" sz="2000" dirty="0"/>
              <a:t>)</a:t>
            </a:r>
            <a:r>
              <a:rPr lang="en-US" sz="2000" dirty="0"/>
              <a:t> – </a:t>
            </a:r>
            <a:r>
              <a:rPr lang="bg-BG" sz="2000" dirty="0"/>
              <a:t>премества се към следващия елемент</a:t>
            </a:r>
          </a:p>
          <a:p>
            <a:r>
              <a:rPr lang="bg-BG" sz="2000" dirty="0"/>
              <a:t>Сравнение (</a:t>
            </a:r>
            <a:r>
              <a:rPr lang="en-US" sz="2000" dirty="0"/>
              <a:t>==, !=</a:t>
            </a:r>
            <a:r>
              <a:rPr lang="bg-BG" sz="2000" dirty="0"/>
              <a:t>)</a:t>
            </a:r>
            <a:r>
              <a:rPr lang="en-US" sz="2000" dirty="0"/>
              <a:t> </a:t>
            </a:r>
            <a:r>
              <a:rPr lang="bg-BG" sz="2000" dirty="0"/>
              <a:t>– проверява позицията</a:t>
            </a:r>
          </a:p>
          <a:p>
            <a:endParaRPr lang="bg-BG" sz="2000" dirty="0"/>
          </a:p>
        </p:txBody>
      </p:sp>
    </p:spTree>
    <p:extLst>
      <p:ext uri="{BB962C8B-B14F-4D97-AF65-F5344CB8AC3E}">
        <p14:creationId xmlns:p14="http://schemas.microsoft.com/office/powerpoint/2010/main" val="2266718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FBCA8-FFB5-D963-DFF4-D58C42951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FB1DD-99D8-9580-EF47-DB664573B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600" dirty="0"/>
              <a:t>Начини за Обхождане в </a:t>
            </a:r>
            <a:r>
              <a:rPr lang="en-US" sz="3600" dirty="0"/>
              <a:t>C++</a:t>
            </a:r>
            <a:endParaRPr lang="en-BG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6FD374-9D88-243A-625E-E06DFB9EF9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12" y="1690688"/>
            <a:ext cx="4876800" cy="21717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3BF46B-2A22-F452-437A-2460AA07D0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3088" y="1690688"/>
            <a:ext cx="5981700" cy="2222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57D91E1-0E22-B082-A3FF-9420827310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2100" y="4221163"/>
            <a:ext cx="6527800" cy="238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602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752A9-1A7A-0D7B-C213-C615CC3E3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C6F37-2366-822E-A27F-A5791AA18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600" dirty="0"/>
              <a:t>Ключовата Дума</a:t>
            </a:r>
            <a:r>
              <a:rPr lang="en-US" sz="3600" dirty="0"/>
              <a:t> “auto”</a:t>
            </a:r>
            <a:r>
              <a:rPr lang="bg-BG" sz="3600" dirty="0"/>
              <a:t> при </a:t>
            </a:r>
            <a:r>
              <a:rPr lang="bg-BG" sz="3600" dirty="0" err="1"/>
              <a:t>Итераторите</a:t>
            </a:r>
            <a:endParaRPr lang="en-BG"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70E7C6-FA57-A496-1176-00DEC988B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1351" y="4640262"/>
            <a:ext cx="6778423" cy="19343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96CC609-FC83-1DF7-4518-6A800D8639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6392" y="2059781"/>
            <a:ext cx="4459326" cy="2211387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53EAAA2-8192-310B-0A80-21995C409823}"/>
              </a:ext>
            </a:extLst>
          </p:cNvPr>
          <p:cNvSpPr txBox="1">
            <a:spLocks/>
          </p:cNvSpPr>
          <p:nvPr/>
        </p:nvSpPr>
        <p:spPr>
          <a:xfrm>
            <a:off x="838199" y="1825625"/>
            <a:ext cx="531413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bg-BG" sz="2000" dirty="0">
                <a:solidFill>
                  <a:schemeClr val="accent6"/>
                </a:solidFill>
              </a:rPr>
              <a:t>Предимства</a:t>
            </a:r>
            <a:r>
              <a:rPr lang="bg-BG" sz="2000" dirty="0"/>
              <a:t> на </a:t>
            </a:r>
            <a:r>
              <a:rPr lang="en-US" sz="2000" dirty="0"/>
              <a:t>auto</a:t>
            </a:r>
            <a:r>
              <a:rPr lang="bg-BG" sz="2000" dirty="0"/>
              <a:t> </a:t>
            </a:r>
            <a:r>
              <a:rPr lang="bg-BG" sz="2000" b="1" dirty="0"/>
              <a:t>при </a:t>
            </a:r>
            <a:r>
              <a:rPr lang="bg-BG" sz="2000" b="1" dirty="0" err="1"/>
              <a:t>итераторите</a:t>
            </a:r>
            <a:r>
              <a:rPr lang="bg-BG" sz="2000" dirty="0"/>
              <a:t>:</a:t>
            </a:r>
            <a:endParaRPr lang="en-US" sz="2000" dirty="0"/>
          </a:p>
          <a:p>
            <a:r>
              <a:rPr lang="bg-BG" sz="2000" dirty="0"/>
              <a:t>Компилаторът автоматично определя типа​</a:t>
            </a:r>
          </a:p>
          <a:p>
            <a:r>
              <a:rPr lang="bg-BG" sz="2000" dirty="0"/>
              <a:t>Код е по-четим и кратък</a:t>
            </a:r>
          </a:p>
          <a:p>
            <a:r>
              <a:rPr lang="bg-BG" sz="2000" dirty="0"/>
              <a:t>Спестява писане при сложни типове</a:t>
            </a:r>
          </a:p>
        </p:txBody>
      </p:sp>
    </p:spTree>
    <p:extLst>
      <p:ext uri="{BB962C8B-B14F-4D97-AF65-F5344CB8AC3E}">
        <p14:creationId xmlns:p14="http://schemas.microsoft.com/office/powerpoint/2010/main" val="5610184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3AA4F-DBCA-EA34-AF1D-0CCE39F5A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A9493-77F9-7109-BABD-F83BF6B69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600" dirty="0"/>
              <a:t>Промяна на Елемента при Обхождане</a:t>
            </a:r>
            <a:endParaRPr lang="en-BG"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27B676-09A2-AE4B-2B11-46687154C6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650" y="1966912"/>
            <a:ext cx="6616700" cy="36957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10561ED-DDC0-6984-2E6C-556DEC0BF1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0392" y="3151981"/>
            <a:ext cx="3770995" cy="132556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02FCBFA-7D0E-AF70-2E01-7C41B8E12EB3}"/>
              </a:ext>
            </a:extLst>
          </p:cNvPr>
          <p:cNvSpPr txBox="1"/>
          <p:nvPr/>
        </p:nvSpPr>
        <p:spPr>
          <a:xfrm>
            <a:off x="7511943" y="2314575"/>
            <a:ext cx="35894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2400" dirty="0"/>
              <a:t>Елементите се променят</a:t>
            </a:r>
            <a:endParaRPr lang="en-BG" sz="2400" dirty="0"/>
          </a:p>
        </p:txBody>
      </p:sp>
    </p:spTree>
    <p:extLst>
      <p:ext uri="{BB962C8B-B14F-4D97-AF65-F5344CB8AC3E}">
        <p14:creationId xmlns:p14="http://schemas.microsoft.com/office/powerpoint/2010/main" val="3008970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F959D-9DA3-6E2D-CBD6-9308D03A0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F5BB2-7EA0-E6F5-AB7A-7FA6687FA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725"/>
            <a:ext cx="10515600" cy="1325563"/>
          </a:xfrm>
        </p:spPr>
        <p:txBody>
          <a:bodyPr>
            <a:normAutofit/>
          </a:bodyPr>
          <a:lstStyle/>
          <a:p>
            <a:r>
              <a:rPr lang="bg-BG" sz="3600" dirty="0"/>
              <a:t>Промяна на Елемента при Обхождане</a:t>
            </a:r>
            <a:endParaRPr lang="en-BG" sz="3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C195C2-BD59-95C1-5F85-7F8BACA3C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0467" y="5446712"/>
            <a:ext cx="3770995" cy="132556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869690F-4D8D-7AD8-EC5B-D8498D7F7DAA}"/>
              </a:ext>
            </a:extLst>
          </p:cNvPr>
          <p:cNvSpPr txBox="1"/>
          <p:nvPr/>
        </p:nvSpPr>
        <p:spPr>
          <a:xfrm>
            <a:off x="8021242" y="4924031"/>
            <a:ext cx="35894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2400" dirty="0"/>
              <a:t>Елементите се променят</a:t>
            </a:r>
            <a:endParaRPr lang="en-BG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A6F002-DFAA-9FE7-1DF0-1ECEDBB420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127870"/>
            <a:ext cx="9583008" cy="3572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838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4F625-F751-C818-1412-3627AFE54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BAFB4-5D02-78A8-D7A9-19E309F83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725"/>
            <a:ext cx="10515600" cy="1325563"/>
          </a:xfrm>
        </p:spPr>
        <p:txBody>
          <a:bodyPr>
            <a:normAutofit/>
          </a:bodyPr>
          <a:lstStyle/>
          <a:p>
            <a:r>
              <a:rPr lang="bg-BG" sz="3600" dirty="0"/>
              <a:t>Промяна на Елемента при Обхождане</a:t>
            </a:r>
            <a:endParaRPr lang="en-BG" sz="3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7BB059-DBB4-72D7-A1CD-2BBB19B0E999}"/>
              </a:ext>
            </a:extLst>
          </p:cNvPr>
          <p:cNvSpPr txBox="1"/>
          <p:nvPr/>
        </p:nvSpPr>
        <p:spPr>
          <a:xfrm>
            <a:off x="8021242" y="4924031"/>
            <a:ext cx="40414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2400" dirty="0"/>
              <a:t>Елементите </a:t>
            </a:r>
            <a:r>
              <a:rPr lang="bg-BG" sz="2400" dirty="0">
                <a:solidFill>
                  <a:srgbClr val="FF0000"/>
                </a:solidFill>
              </a:rPr>
              <a:t>НЕ</a:t>
            </a:r>
            <a:r>
              <a:rPr lang="bg-BG" sz="2400" dirty="0"/>
              <a:t> се променят</a:t>
            </a:r>
            <a:endParaRPr lang="en-BG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9368C0-542F-FABA-0AD9-AB3F72518B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559" y="1318581"/>
            <a:ext cx="7772400" cy="36981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374CEBC-A034-D543-2E7B-26FEE72D63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4655" y="5551487"/>
            <a:ext cx="2619145" cy="1220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47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FDB1B-13D4-3585-95DF-F3F8CBCAC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22B36-A623-C032-6C8D-F5C065B7D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725"/>
            <a:ext cx="10515600" cy="1325563"/>
          </a:xfrm>
        </p:spPr>
        <p:txBody>
          <a:bodyPr>
            <a:normAutofit/>
          </a:bodyPr>
          <a:lstStyle/>
          <a:p>
            <a:r>
              <a:rPr lang="bg-BG" sz="3600" dirty="0"/>
              <a:t>Промяна на Елемента при Обхождане</a:t>
            </a:r>
            <a:endParaRPr lang="en-BG"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71E0F1-6ABD-5433-31C3-7C8B5B428E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559" y="1600110"/>
            <a:ext cx="7772400" cy="37855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22BF089-3586-97E2-37E5-78C30AE3A2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0467" y="5446712"/>
            <a:ext cx="3770995" cy="132556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F04A2BD-60DB-3DB8-58DE-E305BB0E3B9C}"/>
              </a:ext>
            </a:extLst>
          </p:cNvPr>
          <p:cNvSpPr txBox="1"/>
          <p:nvPr/>
        </p:nvSpPr>
        <p:spPr>
          <a:xfrm>
            <a:off x="8021242" y="4924031"/>
            <a:ext cx="35894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2400" dirty="0"/>
              <a:t>Елементите се променят</a:t>
            </a:r>
            <a:endParaRPr lang="en-BG" sz="2400" dirty="0"/>
          </a:p>
        </p:txBody>
      </p:sp>
    </p:spTree>
    <p:extLst>
      <p:ext uri="{BB962C8B-B14F-4D97-AF65-F5344CB8AC3E}">
        <p14:creationId xmlns:p14="http://schemas.microsoft.com/office/powerpoint/2010/main" val="3427928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C3578-2DC7-2686-74CF-B4D7F97A5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9708C-63CA-307E-54AA-F48B200A5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725"/>
            <a:ext cx="10515600" cy="1325563"/>
          </a:xfrm>
        </p:spPr>
        <p:txBody>
          <a:bodyPr>
            <a:normAutofit/>
          </a:bodyPr>
          <a:lstStyle/>
          <a:p>
            <a:r>
              <a:rPr lang="bg-BG" sz="3600" dirty="0"/>
              <a:t>Промяна на Елемента при Обхождане</a:t>
            </a:r>
            <a:endParaRPr lang="en-BG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981B7D-31E1-C51F-73A1-0254BC5189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34294"/>
            <a:ext cx="8932679" cy="41894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0150E8-E6A1-C0D8-832B-0AEBA1232A46}"/>
              </a:ext>
            </a:extLst>
          </p:cNvPr>
          <p:cNvSpPr txBox="1"/>
          <p:nvPr/>
        </p:nvSpPr>
        <p:spPr>
          <a:xfrm>
            <a:off x="8143875" y="5943600"/>
            <a:ext cx="37751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2400" b="1" dirty="0"/>
              <a:t>Грешка при Компилация</a:t>
            </a:r>
            <a:endParaRPr lang="en-BG" sz="2400" b="1" dirty="0"/>
          </a:p>
        </p:txBody>
      </p:sp>
    </p:spTree>
    <p:extLst>
      <p:ext uri="{BB962C8B-B14F-4D97-AF65-F5344CB8AC3E}">
        <p14:creationId xmlns:p14="http://schemas.microsoft.com/office/powerpoint/2010/main" val="23337891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D8DC0-B26A-9184-AAB2-65025AA2A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835EA-EF47-54DD-5C64-F4F9EDE68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725"/>
            <a:ext cx="10515600" cy="1325563"/>
          </a:xfrm>
        </p:spPr>
        <p:txBody>
          <a:bodyPr>
            <a:normAutofit/>
          </a:bodyPr>
          <a:lstStyle/>
          <a:p>
            <a:r>
              <a:rPr lang="bg-BG" sz="3600" dirty="0"/>
              <a:t>Промяна на Елемента при Обхождане</a:t>
            </a:r>
            <a:endParaRPr lang="en-BG"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B5FC4D-5652-E406-EDB9-59331E4F4E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905"/>
          <a:stretch>
            <a:fillRect/>
          </a:stretch>
        </p:blipFill>
        <p:spPr>
          <a:xfrm>
            <a:off x="2924176" y="1114425"/>
            <a:ext cx="6437297" cy="565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8400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A9D1B-E7E5-5918-99D3-235AE2120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BAE38-A1DD-A902-0DEC-528901C49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600" dirty="0"/>
              <a:t>Промяна на Елемента при Обхождане</a:t>
            </a:r>
            <a:endParaRPr lang="en-BG" sz="36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8937CDE-B683-A848-385C-F349384198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0077587"/>
              </p:ext>
            </p:extLst>
          </p:nvPr>
        </p:nvGraphicFramePr>
        <p:xfrm>
          <a:off x="1361977" y="1724026"/>
          <a:ext cx="9468045" cy="4538662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1893609">
                  <a:extLst>
                    <a:ext uri="{9D8B030D-6E8A-4147-A177-3AD203B41FA5}">
                      <a16:colId xmlns:a16="http://schemas.microsoft.com/office/drawing/2014/main" val="1902362859"/>
                    </a:ext>
                  </a:extLst>
                </a:gridCol>
                <a:gridCol w="1893609">
                  <a:extLst>
                    <a:ext uri="{9D8B030D-6E8A-4147-A177-3AD203B41FA5}">
                      <a16:colId xmlns:a16="http://schemas.microsoft.com/office/drawing/2014/main" val="1473269800"/>
                    </a:ext>
                  </a:extLst>
                </a:gridCol>
                <a:gridCol w="1893609">
                  <a:extLst>
                    <a:ext uri="{9D8B030D-6E8A-4147-A177-3AD203B41FA5}">
                      <a16:colId xmlns:a16="http://schemas.microsoft.com/office/drawing/2014/main" val="3621899870"/>
                    </a:ext>
                  </a:extLst>
                </a:gridCol>
                <a:gridCol w="1893609">
                  <a:extLst>
                    <a:ext uri="{9D8B030D-6E8A-4147-A177-3AD203B41FA5}">
                      <a16:colId xmlns:a16="http://schemas.microsoft.com/office/drawing/2014/main" val="151806869"/>
                    </a:ext>
                  </a:extLst>
                </a:gridCol>
                <a:gridCol w="1893609">
                  <a:extLst>
                    <a:ext uri="{9D8B030D-6E8A-4147-A177-3AD203B41FA5}">
                      <a16:colId xmlns:a16="http://schemas.microsoft.com/office/drawing/2014/main" val="3721090323"/>
                    </a:ext>
                  </a:extLst>
                </a:gridCol>
              </a:tblGrid>
              <a:tr h="785066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bg-BG" sz="1400" b="1">
                          <a:effectLst/>
                        </a:rPr>
                        <a:t>Начин</a:t>
                      </a:r>
                    </a:p>
                  </a:txBody>
                  <a:tcPr marL="58802" marR="58802" marT="58802" marB="58802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bg-BG" sz="1400" b="1">
                          <a:effectLst/>
                        </a:rPr>
                        <a:t>Синтаксис</a:t>
                      </a:r>
                    </a:p>
                  </a:txBody>
                  <a:tcPr marL="58802" marR="58802" marT="58802" marB="58802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bg-BG" sz="1400" b="1">
                          <a:effectLst/>
                        </a:rPr>
                        <a:t>Променя оригинала?</a:t>
                      </a:r>
                    </a:p>
                  </a:txBody>
                  <a:tcPr marL="58802" marR="58802" marT="58802" marB="58802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bg-BG" sz="1400" b="1">
                          <a:effectLst/>
                        </a:rPr>
                        <a:t>Копира елементите?</a:t>
                      </a:r>
                    </a:p>
                  </a:txBody>
                  <a:tcPr marL="58802" marR="58802" marT="58802" marB="58802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bg-BG" sz="1400" b="1" dirty="0">
                          <a:effectLst/>
                        </a:rPr>
                        <a:t>Кога да използваме?</a:t>
                      </a:r>
                    </a:p>
                  </a:txBody>
                  <a:tcPr marL="58802" marR="58802" marT="58802" marB="58802"/>
                </a:tc>
                <a:extLst>
                  <a:ext uri="{0D108BD9-81ED-4DB2-BD59-A6C34878D82A}">
                    <a16:rowId xmlns:a16="http://schemas.microsoft.com/office/drawing/2014/main" val="4088014532"/>
                  </a:ext>
                </a:extLst>
              </a:tr>
              <a:tr h="1398398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bg-BG" sz="1400" b="0" dirty="0">
                          <a:effectLst/>
                        </a:rPr>
                        <a:t>Копие</a:t>
                      </a:r>
                    </a:p>
                  </a:txBody>
                  <a:tcPr marL="58802" marR="58802" marT="35281" marB="35281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sz="1400" b="0">
                          <a:effectLst/>
                        </a:rPr>
                        <a:t>for (auto x : vec)</a:t>
                      </a:r>
                    </a:p>
                  </a:txBody>
                  <a:tcPr marL="58802" marR="58802" marT="35281" marB="35281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BG" sz="1400" b="0" dirty="0">
                          <a:effectLst/>
                        </a:rPr>
                        <a:t>❌ </a:t>
                      </a:r>
                      <a:r>
                        <a:rPr lang="bg-BG" sz="1400" b="0" dirty="0">
                          <a:effectLst/>
                        </a:rPr>
                        <a:t>НЕ</a:t>
                      </a:r>
                    </a:p>
                  </a:txBody>
                  <a:tcPr marL="58802" marR="58802" marT="35281" marB="35281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BG" sz="1400" b="0" dirty="0">
                          <a:effectLst/>
                        </a:rPr>
                        <a:t>✅ </a:t>
                      </a:r>
                      <a:r>
                        <a:rPr lang="bg-BG" sz="1400" b="0" dirty="0">
                          <a:effectLst/>
                        </a:rPr>
                        <a:t>ДА</a:t>
                      </a:r>
                    </a:p>
                  </a:txBody>
                  <a:tcPr marL="58802" marR="58802" marT="35281" marB="35281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bg-BG" sz="1400" b="0" dirty="0">
                          <a:effectLst/>
                        </a:rPr>
                        <a:t>Когато искаме локална копия и няма да променяме</a:t>
                      </a:r>
                    </a:p>
                  </a:txBody>
                  <a:tcPr marL="58802" marR="58802" marT="35281" marB="35281" anchor="ctr"/>
                </a:tc>
                <a:extLst>
                  <a:ext uri="{0D108BD9-81ED-4DB2-BD59-A6C34878D82A}">
                    <a16:rowId xmlns:a16="http://schemas.microsoft.com/office/drawing/2014/main" val="1433013328"/>
                  </a:ext>
                </a:extLst>
              </a:tr>
              <a:tr h="1177599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bg-BG" sz="1400" b="0">
                          <a:effectLst/>
                        </a:rPr>
                        <a:t>Референция</a:t>
                      </a:r>
                    </a:p>
                  </a:txBody>
                  <a:tcPr marL="58802" marR="58802" marT="35281" marB="35281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sz="1400" b="0" dirty="0">
                          <a:effectLst/>
                        </a:rPr>
                        <a:t>for (auto&amp; x : </a:t>
                      </a:r>
                      <a:r>
                        <a:rPr lang="en-GB" sz="1400" b="0" dirty="0" err="1">
                          <a:effectLst/>
                        </a:rPr>
                        <a:t>vec</a:t>
                      </a:r>
                      <a:r>
                        <a:rPr lang="en-GB" sz="1400" b="0" dirty="0">
                          <a:effectLst/>
                        </a:rPr>
                        <a:t>)</a:t>
                      </a:r>
                    </a:p>
                  </a:txBody>
                  <a:tcPr marL="58802" marR="58802" marT="35281" marB="35281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BG" sz="1400" b="0">
                          <a:effectLst/>
                        </a:rPr>
                        <a:t>✅ </a:t>
                      </a:r>
                      <a:r>
                        <a:rPr lang="bg-BG" sz="1400" b="0">
                          <a:effectLst/>
                        </a:rPr>
                        <a:t>ДА</a:t>
                      </a:r>
                    </a:p>
                  </a:txBody>
                  <a:tcPr marL="58802" marR="58802" marT="35281" marB="35281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BG" sz="1400" b="0">
                          <a:effectLst/>
                        </a:rPr>
                        <a:t>❌ </a:t>
                      </a:r>
                      <a:r>
                        <a:rPr lang="bg-BG" sz="1400" b="0">
                          <a:effectLst/>
                        </a:rPr>
                        <a:t>НЕ</a:t>
                      </a:r>
                    </a:p>
                  </a:txBody>
                  <a:tcPr marL="58802" marR="58802" marT="35281" marB="35281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bg-BG" sz="1400" b="0">
                          <a:effectLst/>
                        </a:rPr>
                        <a:t>Когато искаме да ПРОМЕНИМ оригинала</a:t>
                      </a:r>
                    </a:p>
                  </a:txBody>
                  <a:tcPr marL="58802" marR="58802" marT="35281" marB="35281" anchor="ctr"/>
                </a:tc>
                <a:extLst>
                  <a:ext uri="{0D108BD9-81ED-4DB2-BD59-A6C34878D82A}">
                    <a16:rowId xmlns:a16="http://schemas.microsoft.com/office/drawing/2014/main" val="1374219090"/>
                  </a:ext>
                </a:extLst>
              </a:tr>
              <a:tr h="1177599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sz="1400" b="0">
                          <a:effectLst/>
                        </a:rPr>
                        <a:t>Const </a:t>
                      </a:r>
                      <a:r>
                        <a:rPr lang="bg-BG" sz="1400" b="0">
                          <a:effectLst/>
                        </a:rPr>
                        <a:t>референция</a:t>
                      </a:r>
                    </a:p>
                  </a:txBody>
                  <a:tcPr marL="58802" marR="58802" marT="35281" marB="35281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sz="1400" b="0" dirty="0">
                          <a:effectLst/>
                        </a:rPr>
                        <a:t>for (</a:t>
                      </a:r>
                      <a:r>
                        <a:rPr lang="en-GB" sz="1400" b="0" dirty="0" err="1">
                          <a:effectLst/>
                        </a:rPr>
                        <a:t>const</a:t>
                      </a:r>
                      <a:r>
                        <a:rPr lang="en-GB" sz="1400" b="0" dirty="0">
                          <a:effectLst/>
                        </a:rPr>
                        <a:t> auto&amp; x : </a:t>
                      </a:r>
                      <a:r>
                        <a:rPr lang="en-GB" sz="1400" b="0" dirty="0" err="1">
                          <a:effectLst/>
                        </a:rPr>
                        <a:t>vec</a:t>
                      </a:r>
                      <a:r>
                        <a:rPr lang="en-GB" sz="1400" b="0" dirty="0">
                          <a:effectLst/>
                        </a:rPr>
                        <a:t>)</a:t>
                      </a:r>
                    </a:p>
                  </a:txBody>
                  <a:tcPr marL="58802" marR="58802" marT="35281" marB="35281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BG" sz="1400" b="0" dirty="0">
                          <a:effectLst/>
                        </a:rPr>
                        <a:t>❌ </a:t>
                      </a:r>
                      <a:r>
                        <a:rPr lang="bg-BG" sz="1400" b="0" dirty="0">
                          <a:effectLst/>
                        </a:rPr>
                        <a:t>НЕ</a:t>
                      </a:r>
                    </a:p>
                  </a:txBody>
                  <a:tcPr marL="58802" marR="58802" marT="35281" marB="35281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BG" sz="1400" b="0">
                          <a:effectLst/>
                        </a:rPr>
                        <a:t>❌ </a:t>
                      </a:r>
                      <a:r>
                        <a:rPr lang="bg-BG" sz="1400" b="0">
                          <a:effectLst/>
                        </a:rPr>
                        <a:t>НЕ</a:t>
                      </a:r>
                    </a:p>
                  </a:txBody>
                  <a:tcPr marL="58802" marR="58802" marT="35281" marB="35281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bg-BG" sz="1400" b="0" dirty="0">
                          <a:effectLst/>
                        </a:rPr>
                        <a:t>Когато САМО ЧЕТЕМ (най-ефективно!)</a:t>
                      </a:r>
                    </a:p>
                  </a:txBody>
                  <a:tcPr marL="58802" marR="58802" marT="35281" marB="35281" anchor="ctr"/>
                </a:tc>
                <a:extLst>
                  <a:ext uri="{0D108BD9-81ED-4DB2-BD59-A6C34878D82A}">
                    <a16:rowId xmlns:a16="http://schemas.microsoft.com/office/drawing/2014/main" val="13781605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56782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91BC2-478F-1E6A-7AD5-918C56EE4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7A111-1BA2-2D9A-D0BA-7133EAEEC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600" dirty="0" err="1"/>
              <a:t>Итератор</a:t>
            </a:r>
            <a:r>
              <a:rPr lang="bg-BG" sz="3600" dirty="0"/>
              <a:t> </a:t>
            </a:r>
            <a:r>
              <a:rPr lang="en-US" sz="3600" dirty="0"/>
              <a:t>Design Pattern</a:t>
            </a:r>
            <a:endParaRPr lang="en-BG" sz="36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018A7F2-E7F1-57B2-EC35-A18807EFD9EF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860583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bg-BG" sz="2000" dirty="0"/>
              <a:t>Методи на контейнера:</a:t>
            </a:r>
          </a:p>
          <a:p>
            <a:r>
              <a:rPr lang="en-US" sz="2000" dirty="0"/>
              <a:t>being() – </a:t>
            </a:r>
            <a:r>
              <a:rPr lang="bg-BG" sz="2000" dirty="0" err="1"/>
              <a:t>итератор</a:t>
            </a:r>
            <a:r>
              <a:rPr lang="bg-BG" sz="2000" dirty="0"/>
              <a:t> към първия елемент</a:t>
            </a:r>
          </a:p>
          <a:p>
            <a:r>
              <a:rPr lang="en-US" sz="2000" dirty="0"/>
              <a:t>end() – </a:t>
            </a:r>
            <a:r>
              <a:rPr lang="bg-BG" sz="2000" dirty="0" err="1"/>
              <a:t>итератор</a:t>
            </a:r>
            <a:r>
              <a:rPr lang="bg-BG" sz="2000" dirty="0"/>
              <a:t> „един след последния елемент“</a:t>
            </a:r>
          </a:p>
          <a:p>
            <a:pPr marL="0" indent="0">
              <a:buNone/>
            </a:pPr>
            <a:endParaRPr lang="bg-BG" sz="2000" dirty="0"/>
          </a:p>
          <a:p>
            <a:pPr marL="0" indent="0">
              <a:buNone/>
            </a:pPr>
            <a:r>
              <a:rPr lang="bg-BG" sz="2000" dirty="0"/>
              <a:t>Трите основни неща, които </a:t>
            </a:r>
            <a:r>
              <a:rPr lang="bg-BG" sz="2000" dirty="0" err="1"/>
              <a:t>итераторът</a:t>
            </a:r>
            <a:r>
              <a:rPr lang="bg-BG" sz="2000" dirty="0"/>
              <a:t> прави:</a:t>
            </a:r>
          </a:p>
          <a:p>
            <a:r>
              <a:rPr lang="bg-BG" sz="2000" dirty="0" err="1"/>
              <a:t>Дереференция</a:t>
            </a:r>
            <a:r>
              <a:rPr lang="bg-BG" sz="2000" dirty="0"/>
              <a:t> (</a:t>
            </a:r>
            <a:r>
              <a:rPr lang="en-US" sz="2000" dirty="0"/>
              <a:t>*it</a:t>
            </a:r>
            <a:r>
              <a:rPr lang="bg-BG" sz="2000" dirty="0"/>
              <a:t>)</a:t>
            </a:r>
            <a:r>
              <a:rPr lang="en-US" sz="2000" dirty="0"/>
              <a:t> </a:t>
            </a:r>
            <a:r>
              <a:rPr lang="bg-BG" sz="2000" dirty="0"/>
              <a:t>– дава стойността на елемента</a:t>
            </a:r>
          </a:p>
          <a:p>
            <a:r>
              <a:rPr lang="bg-BG" sz="2000" dirty="0" err="1"/>
              <a:t>Инкрементиране</a:t>
            </a:r>
            <a:r>
              <a:rPr lang="bg-BG" sz="2000" dirty="0"/>
              <a:t> (</a:t>
            </a:r>
            <a:r>
              <a:rPr lang="en-US" sz="2000" dirty="0"/>
              <a:t>++it</a:t>
            </a:r>
            <a:r>
              <a:rPr lang="bg-BG" sz="2000" dirty="0"/>
              <a:t>)</a:t>
            </a:r>
            <a:r>
              <a:rPr lang="en-US" sz="2000" dirty="0"/>
              <a:t> – </a:t>
            </a:r>
            <a:r>
              <a:rPr lang="bg-BG" sz="2000" dirty="0"/>
              <a:t>премества се към следващия елемент</a:t>
            </a:r>
          </a:p>
          <a:p>
            <a:r>
              <a:rPr lang="bg-BG" sz="2000" dirty="0"/>
              <a:t>Сравнение (</a:t>
            </a:r>
            <a:r>
              <a:rPr lang="en-US" sz="2000" dirty="0"/>
              <a:t>==, !=</a:t>
            </a:r>
            <a:r>
              <a:rPr lang="bg-BG" sz="2000" dirty="0"/>
              <a:t>)</a:t>
            </a:r>
            <a:r>
              <a:rPr lang="en-US" sz="2000" dirty="0"/>
              <a:t> </a:t>
            </a:r>
            <a:r>
              <a:rPr lang="bg-BG" sz="2000" dirty="0"/>
              <a:t>– проверява позицията</a:t>
            </a:r>
          </a:p>
          <a:p>
            <a:endParaRPr lang="bg-BG" sz="2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995866-B033-B78B-3827-B4CC570B976E}"/>
              </a:ext>
            </a:extLst>
          </p:cNvPr>
          <p:cNvSpPr/>
          <p:nvPr/>
        </p:nvSpPr>
        <p:spPr>
          <a:xfrm>
            <a:off x="471488" y="3771901"/>
            <a:ext cx="8701087" cy="1500188"/>
          </a:xfrm>
          <a:prstGeom prst="rect">
            <a:avLst/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G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71F0E2E-41D0-5049-1658-A9E30ED79E25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8829129" y="2577215"/>
            <a:ext cx="1188790" cy="1194686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10AC0A11-0583-F28A-32EC-2FDC1C77BAAC}"/>
              </a:ext>
            </a:extLst>
          </p:cNvPr>
          <p:cNvSpPr/>
          <p:nvPr/>
        </p:nvSpPr>
        <p:spPr>
          <a:xfrm>
            <a:off x="8543925" y="1277082"/>
            <a:ext cx="2947987" cy="1300133"/>
          </a:xfrm>
          <a:prstGeom prst="rect">
            <a:avLst/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2400" b="1" dirty="0" err="1">
                <a:solidFill>
                  <a:schemeClr val="tx1"/>
                </a:solidFill>
              </a:rPr>
              <a:t>Итератор</a:t>
            </a:r>
            <a:r>
              <a:rPr lang="bg-BG" sz="2400" b="1" dirty="0">
                <a:solidFill>
                  <a:schemeClr val="tx1"/>
                </a:solidFill>
              </a:rPr>
              <a:t> Клас</a:t>
            </a:r>
            <a:endParaRPr lang="en-BG" sz="2400" b="1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5CA393-1172-E151-338F-731403B02AB3}"/>
              </a:ext>
            </a:extLst>
          </p:cNvPr>
          <p:cNvSpPr txBox="1"/>
          <p:nvPr/>
        </p:nvSpPr>
        <p:spPr>
          <a:xfrm>
            <a:off x="9444038" y="3199906"/>
            <a:ext cx="1803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dirty="0"/>
              <a:t>Имплементира</a:t>
            </a:r>
            <a:endParaRPr lang="en-BG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9E6F2C0-AF6F-FD1C-C0BA-549248BAC089}"/>
              </a:ext>
            </a:extLst>
          </p:cNvPr>
          <p:cNvCxnSpPr>
            <a:cxnSpLocks/>
          </p:cNvCxnSpPr>
          <p:nvPr/>
        </p:nvCxnSpPr>
        <p:spPr>
          <a:xfrm flipV="1">
            <a:off x="7069932" y="1927148"/>
            <a:ext cx="1473993" cy="267809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A556BC1-5B24-1ACB-5E9C-D6705C1708D4}"/>
              </a:ext>
            </a:extLst>
          </p:cNvPr>
          <p:cNvSpPr txBox="1"/>
          <p:nvPr/>
        </p:nvSpPr>
        <p:spPr>
          <a:xfrm>
            <a:off x="6857274" y="1742482"/>
            <a:ext cx="1002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dirty="0"/>
              <a:t>Връщат</a:t>
            </a:r>
            <a:endParaRPr lang="en-BG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93DCEC4-3AA8-0871-9A58-C99BDD642BDA}"/>
              </a:ext>
            </a:extLst>
          </p:cNvPr>
          <p:cNvSpPr/>
          <p:nvPr/>
        </p:nvSpPr>
        <p:spPr>
          <a:xfrm>
            <a:off x="742951" y="2194957"/>
            <a:ext cx="6326981" cy="1004949"/>
          </a:xfrm>
          <a:prstGeom prst="rect">
            <a:avLst/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55061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2" grpId="0" animBg="1"/>
      <p:bldP spid="15" grpId="0"/>
      <p:bldP spid="22" grpId="0"/>
      <p:bldP spid="2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5D464-B296-DE87-A57D-B103FB46C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EAC5E-8361-8C5A-DBDB-20E521CFF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562475" cy="1325563"/>
          </a:xfrm>
        </p:spPr>
        <p:txBody>
          <a:bodyPr>
            <a:normAutofit/>
          </a:bodyPr>
          <a:lstStyle/>
          <a:p>
            <a:r>
              <a:rPr lang="bg-BG" sz="3600" dirty="0" err="1"/>
              <a:t>Итератор</a:t>
            </a:r>
            <a:r>
              <a:rPr lang="bg-BG" sz="3600" dirty="0"/>
              <a:t> </a:t>
            </a:r>
            <a:r>
              <a:rPr lang="en-US" sz="3600" dirty="0"/>
              <a:t>Design Pattern</a:t>
            </a:r>
            <a:r>
              <a:rPr lang="bg-BG" sz="3600" dirty="0"/>
              <a:t> – Пример</a:t>
            </a:r>
            <a:endParaRPr lang="en-BG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8BF781-6A97-7829-36F1-0208E2CA1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0638" y="107950"/>
            <a:ext cx="5981700" cy="664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9999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25938-6134-30B8-FBD2-2862A88DD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AC7C2-1B95-80A6-07D7-ED2A6B2CC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75862"/>
            <a:ext cx="8220075" cy="1325563"/>
          </a:xfrm>
        </p:spPr>
        <p:txBody>
          <a:bodyPr>
            <a:normAutofit/>
          </a:bodyPr>
          <a:lstStyle/>
          <a:p>
            <a:r>
              <a:rPr lang="bg-BG" sz="3600" dirty="0" err="1"/>
              <a:t>Итератор</a:t>
            </a:r>
            <a:r>
              <a:rPr lang="bg-BG" sz="3600" dirty="0"/>
              <a:t> </a:t>
            </a:r>
            <a:r>
              <a:rPr lang="en-US" sz="3600" dirty="0"/>
              <a:t>Design Pattern</a:t>
            </a:r>
            <a:r>
              <a:rPr lang="bg-BG" sz="3600" dirty="0"/>
              <a:t> – Задача</a:t>
            </a:r>
            <a:endParaRPr lang="en-BG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43FE54-B823-09EE-CA6F-102B2158B828}"/>
              </a:ext>
            </a:extLst>
          </p:cNvPr>
          <p:cNvSpPr txBox="1"/>
          <p:nvPr/>
        </p:nvSpPr>
        <p:spPr>
          <a:xfrm>
            <a:off x="838201" y="1871663"/>
            <a:ext cx="6120586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2000" dirty="0"/>
              <a:t>Задача: Напишете </a:t>
            </a:r>
            <a:r>
              <a:rPr lang="bg-BG" sz="2000" dirty="0" err="1"/>
              <a:t>итератор</a:t>
            </a:r>
            <a:r>
              <a:rPr lang="bg-BG" sz="2000" dirty="0"/>
              <a:t> за свой списък, който: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sz="2000" dirty="0"/>
              <a:t>Има </a:t>
            </a:r>
            <a:r>
              <a:rPr lang="en-GB" sz="2000" dirty="0"/>
              <a:t>operator*, operator++, operator!=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sz="2000" dirty="0"/>
              <a:t>Работи с </a:t>
            </a:r>
            <a:r>
              <a:rPr lang="en-GB" sz="2000" dirty="0"/>
              <a:t>begin() </a:t>
            </a:r>
            <a:r>
              <a:rPr lang="bg-BG" sz="2000" dirty="0"/>
              <a:t>и </a:t>
            </a:r>
            <a:r>
              <a:rPr lang="en-GB" sz="2000" dirty="0"/>
              <a:t>end()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sz="2000" dirty="0"/>
              <a:t>Може да се използва в </a:t>
            </a:r>
            <a:r>
              <a:rPr lang="en-GB" sz="2000" dirty="0"/>
              <a:t>range-based for</a:t>
            </a:r>
          </a:p>
          <a:p>
            <a:endParaRPr lang="en-GB" sz="2000" dirty="0"/>
          </a:p>
          <a:p>
            <a:r>
              <a:rPr lang="bg-BG" sz="2000" dirty="0"/>
              <a:t>Бонус: Добавете </a:t>
            </a:r>
            <a:r>
              <a:rPr lang="en-GB" sz="2000" dirty="0"/>
              <a:t>reverse </a:t>
            </a:r>
            <a:r>
              <a:rPr lang="bg-BG" sz="2000" dirty="0" err="1"/>
              <a:t>итератор</a:t>
            </a:r>
            <a:r>
              <a:rPr lang="bg-BG" sz="2000" dirty="0"/>
              <a:t> (</a:t>
            </a:r>
            <a:r>
              <a:rPr lang="en-GB" sz="2000" dirty="0" err="1"/>
              <a:t>rbegin</a:t>
            </a:r>
            <a:r>
              <a:rPr lang="en-GB" sz="2000" dirty="0"/>
              <a:t>(), rend())</a:t>
            </a:r>
            <a:endParaRPr lang="en-BG" sz="2000" dirty="0"/>
          </a:p>
        </p:txBody>
      </p:sp>
      <p:pic>
        <p:nvPicPr>
          <p:cNvPr id="12290" name="Picture 2" descr="How Many Days a Week Should You Workout?">
            <a:extLst>
              <a:ext uri="{FF2B5EF4-FFF2-40B4-BE49-F238E27FC236}">
                <a16:creationId xmlns:a16="http://schemas.microsoft.com/office/drawing/2014/main" id="{9F539E90-CDE8-A97D-CD4F-511857648B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7987" y="2646503"/>
            <a:ext cx="5070475" cy="3509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34922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7511A-D3F7-C8BD-2CC5-3534D8BA0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E85EB-7F66-B815-D81E-2133F0280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75862"/>
            <a:ext cx="8220075" cy="1325563"/>
          </a:xfrm>
        </p:spPr>
        <p:txBody>
          <a:bodyPr>
            <a:normAutofit/>
          </a:bodyPr>
          <a:lstStyle/>
          <a:p>
            <a:r>
              <a:rPr lang="bg-BG" sz="3600" dirty="0"/>
              <a:t>Готови Имплементации на Контейнери</a:t>
            </a:r>
            <a:endParaRPr lang="en-BG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F32BBB-E853-DAB0-C2F5-D318BFFFA496}"/>
              </a:ext>
            </a:extLst>
          </p:cNvPr>
          <p:cNvSpPr txBox="1"/>
          <p:nvPr/>
        </p:nvSpPr>
        <p:spPr>
          <a:xfrm>
            <a:off x="838201" y="1871663"/>
            <a:ext cx="10552632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Singly Linked List</a:t>
            </a:r>
            <a:endParaRPr lang="en-GB" sz="2000" b="1" dirty="0">
              <a:hlinkClick r:id="rId2"/>
            </a:endParaRPr>
          </a:p>
          <a:p>
            <a:r>
              <a:rPr lang="en-GB" sz="2000" dirty="0">
                <a:hlinkClick r:id="rId2"/>
              </a:rPr>
              <a:t>https://www.geeksforgeeks.org/cpp/program-to-implement-singly-linked-list-in-c-using-class/</a:t>
            </a:r>
            <a:endParaRPr lang="bg-BG" sz="2000" dirty="0"/>
          </a:p>
          <a:p>
            <a:endParaRPr lang="bg-BG" sz="2000" dirty="0"/>
          </a:p>
          <a:p>
            <a:r>
              <a:rPr lang="en-GB" sz="2000" b="1" dirty="0"/>
              <a:t>Vector</a:t>
            </a:r>
            <a:endParaRPr lang="en-GB" sz="2000" b="1" dirty="0">
              <a:hlinkClick r:id="rId3"/>
            </a:endParaRPr>
          </a:p>
          <a:p>
            <a:r>
              <a:rPr lang="en-GB" sz="2000" dirty="0">
                <a:hlinkClick r:id="rId3"/>
              </a:rPr>
              <a:t>https://www.geeksforgeeks.org/cpp/how-to-implement-our-own-vector-class-in-c/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4294980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8E964-8046-C5DF-C9CC-A918B34D5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27C59-9E0A-8B32-33A4-090437877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75862"/>
            <a:ext cx="8220075" cy="1325563"/>
          </a:xfrm>
        </p:spPr>
        <p:txBody>
          <a:bodyPr>
            <a:normAutofit/>
          </a:bodyPr>
          <a:lstStyle/>
          <a:p>
            <a:r>
              <a:rPr lang="bg-BG" sz="3600" dirty="0" err="1"/>
              <a:t>Итератор</a:t>
            </a:r>
            <a:r>
              <a:rPr lang="bg-BG" sz="3600" dirty="0"/>
              <a:t> </a:t>
            </a:r>
            <a:r>
              <a:rPr lang="en-US" sz="3600" dirty="0"/>
              <a:t>Design Pattern</a:t>
            </a:r>
            <a:r>
              <a:rPr lang="bg-BG" sz="3600" dirty="0"/>
              <a:t> – Чести Грешки</a:t>
            </a:r>
            <a:endParaRPr lang="en-BG"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32D5D5-2581-D999-3C0F-17124D89B7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487" y="1273715"/>
            <a:ext cx="8421688" cy="5408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4391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A735F-9229-D2C8-9A1E-D45475155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981B5-6022-4216-9BCE-B8CDD54F1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725"/>
            <a:ext cx="10515600" cy="1325563"/>
          </a:xfrm>
        </p:spPr>
        <p:txBody>
          <a:bodyPr>
            <a:normAutofit/>
          </a:bodyPr>
          <a:lstStyle/>
          <a:p>
            <a:r>
              <a:rPr lang="bg-BG" sz="3600" dirty="0"/>
              <a:t>Промяна на Елемента при Обхождане</a:t>
            </a:r>
            <a:endParaRPr lang="en-BG"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179164-7F30-1EE3-93FE-FE72B57019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905"/>
          <a:stretch>
            <a:fillRect/>
          </a:stretch>
        </p:blipFill>
        <p:spPr>
          <a:xfrm>
            <a:off x="2924176" y="1114425"/>
            <a:ext cx="6437297" cy="565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4578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69F85-DD21-F5E3-9B6F-A436E3BF3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4C37D-EB39-4A97-7B5F-DC6B26184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75862"/>
            <a:ext cx="8220075" cy="1325563"/>
          </a:xfrm>
        </p:spPr>
        <p:txBody>
          <a:bodyPr>
            <a:normAutofit/>
          </a:bodyPr>
          <a:lstStyle/>
          <a:p>
            <a:r>
              <a:rPr lang="bg-BG" sz="3600" dirty="0"/>
              <a:t>Предимства на </a:t>
            </a:r>
            <a:r>
              <a:rPr lang="bg-BG" sz="3600" dirty="0" err="1"/>
              <a:t>Итераторите</a:t>
            </a:r>
            <a:endParaRPr lang="en-BG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25CA4A-2FA5-3419-E5BB-4AF6F79EC61D}"/>
              </a:ext>
            </a:extLst>
          </p:cNvPr>
          <p:cNvSpPr txBox="1"/>
          <p:nvPr/>
        </p:nvSpPr>
        <p:spPr>
          <a:xfrm>
            <a:off x="838201" y="1501425"/>
            <a:ext cx="6100762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sz="2000" dirty="0"/>
              <a:t>Абстракция: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sz="2000" dirty="0"/>
              <a:t>Скриват </a:t>
            </a:r>
            <a:r>
              <a:rPr lang="bg-BG" sz="2000" dirty="0" err="1"/>
              <a:t>имплементационни</a:t>
            </a:r>
            <a:r>
              <a:rPr lang="bg-BG" sz="2000" dirty="0"/>
              <a:t> детайли​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sz="2000" dirty="0"/>
              <a:t>Един интерфейс за различни структури​</a:t>
            </a:r>
          </a:p>
          <a:p>
            <a:endParaRPr lang="bg-BG" sz="2000" dirty="0"/>
          </a:p>
          <a:p>
            <a:r>
              <a:rPr lang="bg-BG" sz="2000" dirty="0"/>
              <a:t>Гъвкавост: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sz="2000" dirty="0"/>
              <a:t>Множество </a:t>
            </a:r>
            <a:r>
              <a:rPr lang="bg-BG" sz="2000" dirty="0" err="1"/>
              <a:t>итератори</a:t>
            </a:r>
            <a:r>
              <a:rPr lang="bg-BG" sz="2000" dirty="0"/>
              <a:t> върху един контейнер​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sz="2000" dirty="0"/>
              <a:t>Различни начини на обхождане​</a:t>
            </a:r>
          </a:p>
          <a:p>
            <a:endParaRPr lang="bg-BG" sz="2000" dirty="0"/>
          </a:p>
          <a:p>
            <a:r>
              <a:rPr lang="bg-BG" sz="2000" dirty="0"/>
              <a:t>Съвместимост: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sz="2000" dirty="0"/>
              <a:t>Работят с </a:t>
            </a:r>
            <a:r>
              <a:rPr lang="en-GB" sz="2000" dirty="0"/>
              <a:t>STL </a:t>
            </a:r>
            <a:r>
              <a:rPr lang="bg-BG" sz="2000" dirty="0"/>
              <a:t>алгоритми (</a:t>
            </a:r>
            <a:r>
              <a:rPr lang="en-GB" sz="2000" dirty="0"/>
              <a:t>sort, find, copy)​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sz="2000" dirty="0"/>
              <a:t>Стандартен интерфейс</a:t>
            </a:r>
            <a:endParaRPr lang="en-BG" sz="2000" dirty="0"/>
          </a:p>
        </p:txBody>
      </p:sp>
      <p:pic>
        <p:nvPicPr>
          <p:cNvPr id="11266" name="Picture 2" descr="Rethinking the Employee Benefits Strategy - HR ASIA">
            <a:extLst>
              <a:ext uri="{FF2B5EF4-FFF2-40B4-BE49-F238E27FC236}">
                <a16:creationId xmlns:a16="http://schemas.microsoft.com/office/drawing/2014/main" id="{F761361D-E88F-030A-36EF-7D5F23B413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21"/>
          <a:stretch>
            <a:fillRect/>
          </a:stretch>
        </p:blipFill>
        <p:spPr bwMode="auto">
          <a:xfrm>
            <a:off x="6565105" y="1612823"/>
            <a:ext cx="4986341" cy="3915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24274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7125B-D473-6597-7C8A-FB24B27CA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0DC39-2E8B-D248-B34B-8C05720FA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75862"/>
            <a:ext cx="8220075" cy="1325563"/>
          </a:xfrm>
        </p:spPr>
        <p:txBody>
          <a:bodyPr>
            <a:normAutofit/>
          </a:bodyPr>
          <a:lstStyle/>
          <a:p>
            <a:r>
              <a:rPr lang="en-US" sz="3600" dirty="0"/>
              <a:t>Proxy Pattern </a:t>
            </a:r>
            <a:r>
              <a:rPr lang="bg-BG" sz="3600" dirty="0"/>
              <a:t>в </a:t>
            </a:r>
            <a:r>
              <a:rPr lang="en-US" sz="3600" dirty="0"/>
              <a:t>C</a:t>
            </a:r>
            <a:r>
              <a:rPr lang="en-US" sz="3600"/>
              <a:t>++ Homework</a:t>
            </a:r>
            <a:endParaRPr lang="en-BG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D3B564-3859-E592-1717-0579A22B6460}"/>
              </a:ext>
            </a:extLst>
          </p:cNvPr>
          <p:cNvSpPr txBox="1"/>
          <p:nvPr/>
        </p:nvSpPr>
        <p:spPr>
          <a:xfrm>
            <a:off x="838200" y="1501425"/>
            <a:ext cx="89487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hlinkClick r:id="rId2"/>
              </a:rPr>
              <a:t>https://www.geeksforgeeks.org/system-design/proxy-pattern-c-design-patterns/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1279240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1ABB7-7488-3647-4BA4-AA61D398D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5BBE0-D8D4-32AA-954D-21AE52763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600" dirty="0"/>
              <a:t>Източници</a:t>
            </a:r>
            <a:endParaRPr lang="en-BG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41FB4-F822-D1DA-CDE2-A8BECDA2A8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9548813" cy="4351338"/>
          </a:xfrm>
        </p:spPr>
        <p:txBody>
          <a:bodyPr>
            <a:normAutofit fontScale="77500" lnSpcReduction="20000"/>
          </a:bodyPr>
          <a:lstStyle/>
          <a:p>
            <a:r>
              <a:rPr lang="en-GB" dirty="0">
                <a:hlinkClick r:id="rId2"/>
              </a:rPr>
              <a:t>https://www.w3schools.com/cpp/cpp_iterators.asp</a:t>
            </a:r>
            <a:endParaRPr lang="en-GB" dirty="0"/>
          </a:p>
          <a:p>
            <a:r>
              <a:rPr lang="en-GB" dirty="0">
                <a:hlinkClick r:id="rId3"/>
              </a:rPr>
              <a:t>https://www.geeksforgeeks.org/cpp/introduction-iterators-c/</a:t>
            </a:r>
            <a:endParaRPr lang="en-GB" dirty="0"/>
          </a:p>
          <a:p>
            <a:r>
              <a:rPr lang="en-GB" dirty="0">
                <a:hlinkClick r:id="rId4"/>
              </a:rPr>
              <a:t>https://courses.grainger.illinois.edu/cs225/fa2022/resources/iterators/</a:t>
            </a:r>
            <a:endParaRPr lang="en-GB" dirty="0"/>
          </a:p>
          <a:p>
            <a:r>
              <a:rPr lang="en-GB" dirty="0">
                <a:hlinkClick r:id="rId5"/>
              </a:rPr>
              <a:t>https://refactoring.guru/design-patterns/iterator</a:t>
            </a:r>
            <a:endParaRPr lang="en-GB" dirty="0"/>
          </a:p>
          <a:p>
            <a:r>
              <a:rPr lang="en-GB" dirty="0">
                <a:hlinkClick r:id="rId6"/>
              </a:rPr>
              <a:t>https://stackoverflow.com/questions/27583945/c-iterator-vector-struct</a:t>
            </a:r>
            <a:endParaRPr lang="en-GB" dirty="0"/>
          </a:p>
          <a:p>
            <a:r>
              <a:rPr lang="en-GB" dirty="0">
                <a:hlinkClick r:id="rId7"/>
              </a:rPr>
              <a:t>https://www.learncpp.com/cpp-tutorial/introduction-to-iterators/</a:t>
            </a:r>
            <a:endParaRPr lang="en-GB" dirty="0"/>
          </a:p>
          <a:p>
            <a:r>
              <a:rPr lang="en-GB" dirty="0">
                <a:hlinkClick r:id="rId8"/>
              </a:rPr>
              <a:t>https://www.cs.up.ac.za/cs/lmarshall/TDP/Notes/_Chapter15_Iterator.pdf</a:t>
            </a:r>
            <a:endParaRPr lang="en-GB" dirty="0"/>
          </a:p>
          <a:p>
            <a:r>
              <a:rPr lang="en-GB" dirty="0">
                <a:hlinkClick r:id="rId9"/>
              </a:rPr>
              <a:t>https://sourcemaking.com/design_patterns/iterator</a:t>
            </a:r>
            <a:endParaRPr lang="en-GB" dirty="0"/>
          </a:p>
          <a:p>
            <a:r>
              <a:rPr lang="en-GB" dirty="0">
                <a:hlinkClick r:id="rId10"/>
              </a:rPr>
              <a:t>https://www.programiz.com/cpp-programming/iterators</a:t>
            </a:r>
            <a:endParaRPr lang="en-GB" dirty="0"/>
          </a:p>
          <a:p>
            <a:r>
              <a:rPr lang="en-GB" dirty="0">
                <a:hlinkClick r:id="rId11"/>
              </a:rPr>
              <a:t>https://dotnettutorials.net/lesson/iterators-in-cpp/</a:t>
            </a:r>
            <a:endParaRPr lang="en-GB" dirty="0"/>
          </a:p>
          <a:p>
            <a:endParaRPr lang="en-BG" sz="2000" dirty="0"/>
          </a:p>
        </p:txBody>
      </p:sp>
    </p:spTree>
    <p:extLst>
      <p:ext uri="{BB962C8B-B14F-4D97-AF65-F5344CB8AC3E}">
        <p14:creationId xmlns:p14="http://schemas.microsoft.com/office/powerpoint/2010/main" val="1761680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cf7ac0a-4681-4823-ab0b-04ef02c5f873}" enabled="1" method="Standard" siteId="{42f7676c-f455-423c-82f6-dc2d99791af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1575</TotalTime>
  <Words>757</Words>
  <Application>Microsoft Macintosh PowerPoint</Application>
  <PresentationFormat>Widescreen</PresentationFormat>
  <Paragraphs>135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Aptos</vt:lpstr>
      <vt:lpstr>Aptos Display</vt:lpstr>
      <vt:lpstr>Arial</vt:lpstr>
      <vt:lpstr>Office Theme</vt:lpstr>
      <vt:lpstr>Итератори в C++</vt:lpstr>
      <vt:lpstr>Каква е Итератор?</vt:lpstr>
      <vt:lpstr>Защо Използваме Итератори?</vt:lpstr>
      <vt:lpstr>Защо Използваме Итератори?</vt:lpstr>
      <vt:lpstr>Защо Използваме Итератори?</vt:lpstr>
      <vt:lpstr>Основни Операции на Итератор</vt:lpstr>
      <vt:lpstr>Основни Операции на Итератор Пример – Масив</vt:lpstr>
      <vt:lpstr>Основни Операции на Итератор Пример – Динамичен Масив</vt:lpstr>
      <vt:lpstr>Основни Операции на Итератор</vt:lpstr>
      <vt:lpstr>Начини за Обхождане в C++</vt:lpstr>
      <vt:lpstr>Ключовата Дума “auto” при Итераторите</vt:lpstr>
      <vt:lpstr>Промяна на Елемента при Обхождане</vt:lpstr>
      <vt:lpstr>Промяна на Елемента при Обхождане</vt:lpstr>
      <vt:lpstr>Промяна на Елемента при Обхождане</vt:lpstr>
      <vt:lpstr>Промяна на Елемента при Обхождане</vt:lpstr>
      <vt:lpstr>Промяна на Елемента при Обхождане</vt:lpstr>
      <vt:lpstr>Промяна на Елемента при Обхождане</vt:lpstr>
      <vt:lpstr>Промяна на Елемента при Обхождане</vt:lpstr>
      <vt:lpstr>Итератор Design Pattern</vt:lpstr>
      <vt:lpstr>Итератор Design Pattern – Пример</vt:lpstr>
      <vt:lpstr>Итератор Design Pattern – Задача</vt:lpstr>
      <vt:lpstr>Готови Имплементации на Контейнери</vt:lpstr>
      <vt:lpstr>Итератор Design Pattern – Чести Грешки</vt:lpstr>
      <vt:lpstr>Промяна на Елемента при Обхождане</vt:lpstr>
      <vt:lpstr>Предимства на Итераторите</vt:lpstr>
      <vt:lpstr>Proxy Pattern в C++ Homework</vt:lpstr>
      <vt:lpstr>Източници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Aytov, Aleksandar</dc:creator>
  <cp:lastModifiedBy>Aytov, Aleksandar</cp:lastModifiedBy>
  <cp:revision>5</cp:revision>
  <dcterms:created xsi:type="dcterms:W3CDTF">2025-10-09T11:57:34Z</dcterms:created>
  <dcterms:modified xsi:type="dcterms:W3CDTF">2025-11-14T12:34:01Z</dcterms:modified>
</cp:coreProperties>
</file>