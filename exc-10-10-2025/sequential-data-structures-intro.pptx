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6" r:id="rId10"/>
    <p:sldId id="272" r:id="rId11"/>
    <p:sldId id="273" r:id="rId12"/>
    <p:sldId id="274" r:id="rId13"/>
    <p:sldId id="264" r:id="rId14"/>
    <p:sldId id="268" r:id="rId15"/>
    <p:sldId id="267" r:id="rId16"/>
    <p:sldId id="277" r:id="rId17"/>
    <p:sldId id="269" r:id="rId18"/>
    <p:sldId id="270" r:id="rId19"/>
    <p:sldId id="271" r:id="rId20"/>
    <p:sldId id="263" r:id="rId21"/>
  </p:sldIdLst>
  <p:sldSz cx="12192000" cy="6858000"/>
  <p:notesSz cx="6858000" cy="9144000"/>
  <p:defaultTextStyle>
    <a:defPPr>
      <a:defRPr lang="en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4A331-C7FA-B94F-B3F0-C603C082CEB8}" v="21" dt="2025-10-09T13:17:43.6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2490"/>
  </p:normalViewPr>
  <p:slideViewPr>
    <p:cSldViewPr snapToGrid="0">
      <p:cViewPr varScale="1">
        <p:scale>
          <a:sx n="90" d="100"/>
          <a:sy n="90" d="100"/>
        </p:scale>
        <p:origin x="1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1E9C3-53A8-7F40-92D9-23B022F026FD}" type="datetimeFigureOut">
              <a:rPr lang="en-BG" smtClean="0"/>
              <a:t>9.10.25</a:t>
            </a:fld>
            <a:endParaRPr lang="en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36D7A-D04B-E441-BC68-607765681E78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1344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243277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DD94-72FD-6F71-0A19-04A8D5EE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2D3EF-52AE-B892-32F5-816AE0D86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CAC3D-F394-057F-721D-EF6E749E0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23A7-3D83-3FC8-4E32-85002FF4B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9031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vector&lt;T&gt;: Dynamic array with contiguous memory on the heap, ideal for frequent random access and back insertions, but costly for front/middle operations due to element shifting.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58143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8F8C-B324-0CA9-0D2F-26ABBDBD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D5223-9F4D-5CBC-32B4-A755FD879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65125-3DF4-9FA0-95E7-27A514D2F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9C3CD-861E-FB25-C235-3438FDF51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9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5068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5307-8E7A-E503-9B62-2655A127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6F53D-D68E-8E53-E723-9859E66AC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1EAFF-E7B5-5CD5-010D-CAF9F29D0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7C691-CAEA-987E-6FB2-2461D2E8E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10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94791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CA30-0679-D4A9-1883-205A73E9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07AB3-7459-6C5A-233F-AF5CA2F1B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EB338-D878-9869-A719-4E18780E9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C2B28-0884-CF67-BCE5-2FA37E127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04162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4890-C887-F714-B7E0-489E79CD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CAE9E-96AE-B6B9-93FF-2118411D9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A24B9-8003-F113-67F7-C6AC992CB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B00F-8EFB-3E70-4AB4-F8312D414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14686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6D1F-91B1-59C2-A36C-617708CE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DA3DB-236E-5DBA-717E-35148C414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15D63-8A72-B847-C924-E0DD0ED3B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vector&lt;T&gt;: Dynamic array with contiguous memory on the heap, ideal for frequent random access and back insertions, but costly for front/middle operations due to element shifting.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70FC-3AF2-A0BE-5F34-EADD92B6E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43225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6117-C1BC-C1DD-592D-A3EDE781B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43595-70FD-E7CE-215E-B59C2AEF0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978C8-3714-0169-B6D4-16A5E0AF4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AAE04-CDE8-4A20-95FF-D70940DA1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63491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3B6D6-CFAF-1007-EE27-9746BD8F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540DB-B3AE-FD7C-B1B4-701A28806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CB4C9-9692-2AAC-C6D2-DBF58B4C1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9CB6-8279-D634-6589-E8C68388C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1095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32C1-F3AC-5B9F-610C-07D7F441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EF725-F44C-2EF3-9D7D-C7C050334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8BAC1-6FBE-73AF-9BED-5EF15F7B8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2B2F1-CBB3-18E6-729E-39B65AE70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01256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585E-ABC5-D205-C2FE-C6C985E8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16B79-92BA-B5EA-8B80-09AF21477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4C9D9-0277-C639-ADE8-210338BCC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CB5CA-8DB4-593E-3D2A-5B15DDC66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05236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E85E-E8B5-0D09-506C-C074C4A2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29A40-1EF6-E742-4694-DBB5C3E99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16B7C-3F14-17DF-4637-9D385725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40CB2-E2AE-17E4-693C-4D73317D4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140018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F697-909E-E75C-D64F-FC28B6B6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29E2D-34B8-6DAE-E148-5CD0F4801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3FA46-7387-48DE-D767-8726C825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D3BA3-C44E-D129-EB96-DCBBAA425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36D7A-D04B-E441-BC68-607765681E78}" type="slidenum">
              <a:rPr lang="en-BG" smtClean="0"/>
              <a:t>19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89681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48E-F91A-6DD5-ED36-0CE6B19B8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FCC5C-E999-6A73-AFB6-E76C2667D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5AD6A-5882-9FA5-A735-32805D43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F0E96-42E2-39EA-1F6D-5655A939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7B2D4-99A2-6959-BFF1-AC24590F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06573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3DFF-2FC1-E26D-EEEB-B2062445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E934-5C61-75ED-443A-B1F99DF70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5E995-EB24-C5C9-9CDE-44217076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74FEC-8A78-DAD4-39B4-2E558DCE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CB240-9B7C-1B1B-DC52-1F04944A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3086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3099-2602-522C-A69A-BFF4C548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E9A4E-B755-3038-9395-1D40AEE8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D56A-CF0D-BCC0-A61D-0B105ADE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0553A-BE97-82D6-6C33-5E775E10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84F8F-835E-30F4-691B-2F76EA19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54459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F449-95A2-8362-E33A-C322C07F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D711C-89FF-95F5-996E-9C8DC2961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4DE14-F93A-52F7-A766-C7D66DF9B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CAE68-6FAF-472F-2F18-7522E14A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15F54-4D0C-97B1-F2BB-043F996F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5B24B-3281-C8D2-9A35-788DE13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4783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E33-5494-A297-12A4-0559F62E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8741A-F54F-96AF-DFEE-D508028C0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AFA9C-4DC2-8F3A-FA34-9449F06D9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88E90-AEF8-54DD-18E5-272DE2A52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B76E2-6329-439A-1423-27A8DBCE2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F1241A-B3FA-9A72-5807-A317C1C4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E9F74-8C57-C76D-0F8E-3BDE188C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952DF-0D16-5D5E-DE4C-97CE4352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6973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1CFC-3E37-459F-9B79-E2F42DFE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5CA6F-5881-31AE-B049-C6F416C7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08ECC-1163-86DD-14FC-5E0148EE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6F237-B831-1137-93EE-4C217F7D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4035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8FBB1-5D71-C75B-BA7E-BF311E97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39C4B1-506C-613A-BAC7-32B90E22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2E2E1-C3D0-2A97-28BF-34ADBFAF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4536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BB92-236C-FCC9-D71F-EE91C2F6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C403D-337D-6B38-01C7-6BCE82EA5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8D48A-5492-F355-73AC-75AB3D321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42C32-DA40-23BA-AA31-724668EE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7D240-788B-0A11-ACD6-D78620FB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47F63-A0E8-F613-A9A8-57D14EFE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3275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D5A4-C985-7669-86FC-5D56C749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86AC7-7B35-3503-B46B-481F60B73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D0FA3-2951-9674-9919-880A41945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9633-0C1B-DFC6-05AF-D98CD937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EAF24-94E8-1F23-F69D-99387F7B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835EB-1F4F-1B25-5229-40218A4F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04994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7235-040F-D421-2FC9-6819FA04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D61BB-B94B-9068-7F25-B213C989B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602BF-0E52-B390-ECFA-2EC4B224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4E1DF-C61F-2572-9E0B-D367B028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871AB-5B52-C39E-A21D-37828AD1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121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62EAEB-882A-8536-4963-4E163A43B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782D7-386E-0F21-32E2-C65A091A5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A4CC6-614B-3FF6-8E6D-DED20D39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FD10-5A80-AA3E-FDD5-8F8D31D5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AE87-8162-F1F5-45AF-FAFE573F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3073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9655F-E1C6-72E4-94A8-A13B2A3C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0B977-841F-229A-F658-885E90BEF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8C65B-C01D-AE14-31F6-D1A17C34D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BE62E-49E1-5A44-9598-D1149CCDA360}" type="datetimeFigureOut">
              <a:rPr lang="en-BG" smtClean="0"/>
              <a:t>9.10.25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C67AC-D148-8BE2-7A01-760902048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F4ECC-6DC8-1DD4-9984-198DEB012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507EC-556A-F744-B36E-4B7A6FFACD44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6930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lyssaq.github.io/stl-complexities/" TargetMode="External"/><Relationship Id="rId2" Type="http://schemas.openxmlformats.org/officeDocument/2006/relationships/hyperlink" Target="https://www.scaler.com/topics/cpp/containers-in-cp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cpp/containers-cpp-stl" TargetMode="External"/><Relationship Id="rId5" Type="http://schemas.openxmlformats.org/officeDocument/2006/relationships/hyperlink" Target="https://www.programiz.com/cpp-programming/vectors" TargetMode="External"/><Relationship Id="rId4" Type="http://schemas.openxmlformats.org/officeDocument/2006/relationships/hyperlink" Target="https://www.geeksforgeeks.org/cpp/analysis-of-time-and-space-complexity-of-stl-containe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E0DA-81A0-A6AA-0E7C-C6E186A85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Линейни Структури </a:t>
            </a:r>
            <a:br>
              <a:rPr lang="bg-BG" dirty="0"/>
            </a:br>
            <a:r>
              <a:rPr lang="bg-BG" dirty="0"/>
              <a:t>от Данни</a:t>
            </a:r>
            <a:endParaRPr lang="en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C422A-8DA7-B310-9237-78248B4B1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34163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FD60-0398-5FDA-C79E-F4D6671D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Основи на Структурите от Данни</a:t>
            </a:r>
            <a:endParaRPr lang="en-B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5F614-1FDF-BB43-0D67-5242CB007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2060" cy="4351338"/>
          </a:xfrm>
        </p:spPr>
        <p:txBody>
          <a:bodyPr>
            <a:normAutofit/>
          </a:bodyPr>
          <a:lstStyle/>
          <a:p>
            <a:r>
              <a:rPr lang="bg-BG" sz="2000" dirty="0"/>
              <a:t>Организация и управление на данни</a:t>
            </a:r>
          </a:p>
          <a:p>
            <a:r>
              <a:rPr lang="bg-BG" sz="2000" dirty="0"/>
              <a:t>Градивни елементи в приложенията</a:t>
            </a:r>
          </a:p>
          <a:p>
            <a:r>
              <a:rPr lang="bg-BG" sz="2000" dirty="0"/>
              <a:t>Ефективен достъп и модификация на данните</a:t>
            </a:r>
          </a:p>
          <a:p>
            <a:r>
              <a:rPr lang="bg-BG" sz="2000" dirty="0"/>
              <a:t>Играят ключова роля в софтуера</a:t>
            </a:r>
            <a:endParaRPr lang="en-BG" sz="2000" dirty="0"/>
          </a:p>
        </p:txBody>
      </p:sp>
      <p:pic>
        <p:nvPicPr>
          <p:cNvPr id="1026" name="Picture 2" descr="Data structures for Beginners. Data structures let us organize data… | by  Techmentry | Techmentry-Learning | Medium">
            <a:extLst>
              <a:ext uri="{FF2B5EF4-FFF2-40B4-BE49-F238E27FC236}">
                <a16:creationId xmlns:a16="http://schemas.microsoft.com/office/drawing/2014/main" id="{4B94A92F-3ECF-27B6-B76A-E42988EC3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909" y="3484466"/>
            <a:ext cx="9018181" cy="300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67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A6CA-92F2-EEEC-5F93-7D31C1D5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90DB-C616-87E6-E7C1-E2E274C4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Структури от Данни Типове</a:t>
            </a:r>
            <a:endParaRPr lang="en-BG" sz="3600" dirty="0"/>
          </a:p>
        </p:txBody>
      </p:sp>
      <p:pic>
        <p:nvPicPr>
          <p:cNvPr id="3074" name="Picture 2" descr="Data Structures in C++ - Scaler Topics">
            <a:extLst>
              <a:ext uri="{FF2B5EF4-FFF2-40B4-BE49-F238E27FC236}">
                <a16:creationId xmlns:a16="http://schemas.microsoft.com/office/drawing/2014/main" id="{DCA28ACC-2D49-FCEC-423F-D20B2656E8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65"/>
          <a:stretch>
            <a:fillRect/>
          </a:stretch>
        </p:blipFill>
        <p:spPr bwMode="auto">
          <a:xfrm>
            <a:off x="1749425" y="1265275"/>
            <a:ext cx="8693150" cy="566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31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86F4E-856C-1FC3-7D97-9F92EC61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3272-C4A9-C1E2-D891-38AAE2F20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206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sz="2000" dirty="0"/>
              <a:t>Структури като Абстракция</a:t>
            </a:r>
          </a:p>
          <a:p>
            <a:r>
              <a:rPr lang="bg-BG" sz="2000" dirty="0"/>
              <a:t>Абстрактен тип данни, реализиран чрез класове</a:t>
            </a:r>
          </a:p>
          <a:p>
            <a:r>
              <a:rPr lang="bg-BG" sz="2000" dirty="0"/>
              <a:t>Комбинират данни и операции в единна структура</a:t>
            </a:r>
          </a:p>
          <a:p>
            <a:r>
              <a:rPr lang="bg-BG" sz="2000" dirty="0"/>
              <a:t>Запазват набор от свойства и методи без детайли за реализация</a:t>
            </a:r>
          </a:p>
          <a:p>
            <a:pPr marL="0" indent="0">
              <a:buNone/>
            </a:pPr>
            <a:endParaRPr lang="bg-BG" sz="2000" dirty="0"/>
          </a:p>
          <a:p>
            <a:pPr marL="0" indent="0">
              <a:buNone/>
            </a:pPr>
            <a:r>
              <a:rPr lang="bg-BG" sz="2000" dirty="0"/>
              <a:t>Предимства</a:t>
            </a:r>
          </a:p>
          <a:p>
            <a:r>
              <a:rPr lang="bg-BG" sz="2000" dirty="0"/>
              <a:t>Гъвкав интерфейс, който позволява различни имплементации</a:t>
            </a:r>
          </a:p>
          <a:p>
            <a:r>
              <a:rPr lang="bg-BG" sz="2000" dirty="0"/>
              <a:t>Различни реализации имат различни предимства за скорост и памет</a:t>
            </a:r>
          </a:p>
          <a:p>
            <a:r>
              <a:rPr lang="bg-BG" sz="2000" dirty="0" err="1"/>
              <a:t>Енкапсулация</a:t>
            </a:r>
            <a:r>
              <a:rPr lang="bg-BG" sz="2000" dirty="0"/>
              <a:t> и скриване на данните</a:t>
            </a:r>
          </a:p>
          <a:p>
            <a:endParaRPr lang="bg-BG" sz="2000" dirty="0"/>
          </a:p>
          <a:p>
            <a:pPr marL="0" indent="0">
              <a:buNone/>
            </a:pPr>
            <a:endParaRPr lang="bg-BG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800D6-F2B8-7DA0-13D3-454B7052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Структури от Данни в </a:t>
            </a:r>
            <a:br>
              <a:rPr lang="bg-BG" sz="3600" dirty="0"/>
            </a:br>
            <a:r>
              <a:rPr lang="bg-BG" sz="3600" dirty="0"/>
              <a:t>Обектно-Ориентираното Програмиране (ООП)</a:t>
            </a:r>
            <a:endParaRPr lang="en-BG" sz="3600" dirty="0"/>
          </a:p>
        </p:txBody>
      </p:sp>
      <p:pic>
        <p:nvPicPr>
          <p:cNvPr id="4098" name="Picture 2" descr="Difference Between Structure and Class in C++ - Scaler Topics">
            <a:extLst>
              <a:ext uri="{FF2B5EF4-FFF2-40B4-BE49-F238E27FC236}">
                <a16:creationId xmlns:a16="http://schemas.microsoft.com/office/drawing/2014/main" id="{172D09F5-9B81-115C-FE88-705D9E399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260" y="2009553"/>
            <a:ext cx="4515659" cy="416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87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EAE1A-6DA4-3C2B-9F59-94F9234F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101B-A5FE-42AC-6229-8FCB5941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</a:p>
        </p:txBody>
      </p:sp>
      <p:pic>
        <p:nvPicPr>
          <p:cNvPr id="6146" name="Picture 2" descr="Sequential Containers">
            <a:extLst>
              <a:ext uri="{FF2B5EF4-FFF2-40B4-BE49-F238E27FC236}">
                <a16:creationId xmlns:a16="http://schemas.microsoft.com/office/drawing/2014/main" id="{5AE168F1-7657-C1B4-D799-29C15BC02C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2" b="20929"/>
          <a:stretch>
            <a:fillRect/>
          </a:stretch>
        </p:blipFill>
        <p:spPr bwMode="auto">
          <a:xfrm>
            <a:off x="1169193" y="1516837"/>
            <a:ext cx="9853613" cy="497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3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D5B4-9C2C-47E4-C0ED-1BF9B02C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8E7A-613C-37E2-19A4-BF9BC5D8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Array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E98953D-7E78-2552-2572-CD328DE6B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788664"/>
              </p:ext>
            </p:extLst>
          </p:nvPr>
        </p:nvGraphicFramePr>
        <p:xfrm>
          <a:off x="3557587" y="3621086"/>
          <a:ext cx="5076825" cy="25298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687271456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784016939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3505143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Method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Time Complexity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Space Complexity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45082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operator[] / at()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578419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63172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back()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841758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size()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29241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empty()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05798239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090A638C-AE58-1335-6797-F9B7F7B3F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819" y="2123280"/>
            <a:ext cx="6612360" cy="106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3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3A92-FADE-9575-C8FA-99CDCF72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F870-5964-BBEB-5CBD-F7B0D5A8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Array in Practice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D10D2-9AAA-FF55-FF78-4D3441CC77E0}"/>
              </a:ext>
            </a:extLst>
          </p:cNvPr>
          <p:cNvSpPr txBox="1"/>
          <p:nvPr/>
        </p:nvSpPr>
        <p:spPr>
          <a:xfrm>
            <a:off x="2586037" y="1690688"/>
            <a:ext cx="7019925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2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2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&lt;iostream&gt;</a:t>
            </a: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2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2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&lt;array&gt;</a:t>
            </a: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2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std;</a:t>
            </a:r>
          </a:p>
          <a:p>
            <a:pPr algn="l">
              <a:buNone/>
            </a:pP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2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main()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{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creating an array</a:t>
            </a: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array&lt;</a:t>
            </a:r>
            <a:r>
              <a:rPr lang="en-GB" sz="12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5&gt;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GB" sz="12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2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11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2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2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2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13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};</a:t>
            </a:r>
          </a:p>
          <a:p>
            <a:pPr algn="l">
              <a:buNone/>
            </a:pP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creating an iterator for the array</a:t>
            </a: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array&lt;</a:t>
            </a:r>
            <a:r>
              <a:rPr lang="en-GB" sz="12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5&gt;::iterator it;</a:t>
            </a:r>
          </a:p>
          <a:p>
            <a:pPr algn="l">
              <a:buNone/>
            </a:pP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iterating through each element of the array using the iterator</a:t>
            </a: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2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"The array is: "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(it =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arr.</a:t>
            </a:r>
            <a:r>
              <a:rPr lang="en-GB" sz="12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it &lt;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arr.</a:t>
            </a:r>
            <a:r>
              <a:rPr lang="en-GB" sz="12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it++)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{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*it &lt;&lt; </a:t>
            </a:r>
            <a:r>
              <a:rPr lang="en-GB" sz="12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}</a:t>
            </a:r>
          </a:p>
          <a:p>
            <a:pPr algn="l">
              <a:buNone/>
            </a:pP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endl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2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"Size of the array is: "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arr.</a:t>
            </a:r>
            <a:r>
              <a:rPr lang="en-GB" sz="12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 &lt;&lt; </a:t>
            </a:r>
            <a:r>
              <a:rPr lang="en-GB" sz="12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endl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2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2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}</a:t>
            </a:r>
            <a:endParaRPr lang="en-BG" sz="1200" dirty="0"/>
          </a:p>
        </p:txBody>
      </p:sp>
    </p:spTree>
    <p:extLst>
      <p:ext uri="{BB962C8B-B14F-4D97-AF65-F5344CB8AC3E}">
        <p14:creationId xmlns:p14="http://schemas.microsoft.com/office/powerpoint/2010/main" val="31191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2E194-B786-CACA-50FB-4A67FD46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E246-98CA-04A7-95E0-C534745A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Vector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387406-5F79-66A9-A5F6-8C0A6CAE3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544945"/>
              </p:ext>
            </p:extLst>
          </p:nvPr>
        </p:nvGraphicFramePr>
        <p:xfrm>
          <a:off x="2986086" y="2638742"/>
          <a:ext cx="6219825" cy="40843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73275">
                  <a:extLst>
                    <a:ext uri="{9D8B030D-6E8A-4147-A177-3AD203B41FA5}">
                      <a16:colId xmlns:a16="http://schemas.microsoft.com/office/drawing/2014/main" val="1140000749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1858346458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3810660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Method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Time Complexity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 dirty="0">
                          <a:effectLst/>
                        </a:rPr>
                        <a:t>Space Complexity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305424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operator[] / at()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519582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738703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back()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00195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push_back()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 amortized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72137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pop_back()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779789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insert()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O(n)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84466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erase()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O(n)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593149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size()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810159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empty()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32741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clear()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O(n)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51514894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346CE8C-303C-6BBF-28E5-28D4B820D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989" y="1578292"/>
            <a:ext cx="6830017" cy="106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91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1CC2-226B-C306-4011-88EF15DB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DB8D-CD43-5C5F-0D1C-192F4AE8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Vector in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6403E-86BE-AAD1-C632-FA8E083B46A3}"/>
              </a:ext>
            </a:extLst>
          </p:cNvPr>
          <p:cNvSpPr txBox="1"/>
          <p:nvPr/>
        </p:nvSpPr>
        <p:spPr>
          <a:xfrm>
            <a:off x="2034362" y="1690688"/>
            <a:ext cx="8123275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&lt;iostream&gt;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&lt;vector&gt;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std;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main()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{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vector&lt;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vec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&lt;=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vec.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push_back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"Output with 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vec.begin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() and 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vec.end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():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auto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vec.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!=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vec.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++)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*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"\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nOutput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 with 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vec.rbegin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() and 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vec.rend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():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auto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vec.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rbegin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!=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vec.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rend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++)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*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}</a:t>
            </a:r>
            <a:endParaRPr lang="en-BG" sz="1400" dirty="0"/>
          </a:p>
        </p:txBody>
      </p:sp>
    </p:spTree>
    <p:extLst>
      <p:ext uri="{BB962C8B-B14F-4D97-AF65-F5344CB8AC3E}">
        <p14:creationId xmlns:p14="http://schemas.microsoft.com/office/powerpoint/2010/main" val="345069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61C0-1270-6347-EF1C-FEC13268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C43C-3C6A-44F8-3C59-FAA5E8755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Forward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0E19A-E0DE-2230-0669-951B58EFF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88"/>
          <a:stretch>
            <a:fillRect/>
          </a:stretch>
        </p:blipFill>
        <p:spPr>
          <a:xfrm>
            <a:off x="706027" y="2974974"/>
            <a:ext cx="11122067" cy="118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21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6D766-362D-E98A-E753-4AE0E675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5289-B0AD-D0FB-7CE1-BE757A30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Forward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371BB-5CD9-BED9-0588-1F8B0C8CB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88"/>
          <a:stretch>
            <a:fillRect/>
          </a:stretch>
        </p:blipFill>
        <p:spPr>
          <a:xfrm>
            <a:off x="706028" y="1724026"/>
            <a:ext cx="11122067" cy="118110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08E807-973D-149A-1AA8-AAD1C99BD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10352"/>
              </p:ext>
            </p:extLst>
          </p:nvPr>
        </p:nvGraphicFramePr>
        <p:xfrm>
          <a:off x="2502693" y="3131348"/>
          <a:ext cx="7186614" cy="336152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95538">
                  <a:extLst>
                    <a:ext uri="{9D8B030D-6E8A-4147-A177-3AD203B41FA5}">
                      <a16:colId xmlns:a16="http://schemas.microsoft.com/office/drawing/2014/main" val="887172513"/>
                    </a:ext>
                  </a:extLst>
                </a:gridCol>
                <a:gridCol w="2395538">
                  <a:extLst>
                    <a:ext uri="{9D8B030D-6E8A-4147-A177-3AD203B41FA5}">
                      <a16:colId xmlns:a16="http://schemas.microsoft.com/office/drawing/2014/main" val="746414829"/>
                    </a:ext>
                  </a:extLst>
                </a:gridCol>
                <a:gridCol w="2395538">
                  <a:extLst>
                    <a:ext uri="{9D8B030D-6E8A-4147-A177-3AD203B41FA5}">
                      <a16:colId xmlns:a16="http://schemas.microsoft.com/office/drawing/2014/main" val="1342134380"/>
                    </a:ext>
                  </a:extLst>
                </a:gridCol>
              </a:tblGrid>
              <a:tr h="427831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Method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Time Complexity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Space Complexity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326208491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4052265466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push_front()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821933917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pop_front()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488531234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insert_after()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O(1)*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374698304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erase_after()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O(1)*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854273950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empty()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68586616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clear()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O(n)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548794927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sort()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O(n log n)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993936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882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C2618-42A4-A88A-91EC-03D604CC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BCC7-4946-6331-D63D-1DF8F2AB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Forward List in Practice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D7B897-06B8-401F-84DB-49B83F9FEEC3}"/>
              </a:ext>
            </a:extLst>
          </p:cNvPr>
          <p:cNvSpPr txBox="1"/>
          <p:nvPr/>
        </p:nvSpPr>
        <p:spPr>
          <a:xfrm>
            <a:off x="2793206" y="1465302"/>
            <a:ext cx="6100762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&lt;iostream&gt;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forward_list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std;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main()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{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creating a forward list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forward_list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fr_lst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};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dirty="0">
                <a:solidFill>
                  <a:srgbClr val="ABB2BF"/>
                </a:solidFill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fr_lst.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push_front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fr_lst.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push_front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printing the forward list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"The forward list is: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&amp;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fr_lst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{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}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endl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deleting first value using </a:t>
            </a:r>
            <a:r>
              <a:rPr lang="en-GB" sz="1400" b="0" i="1" dirty="0" err="1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pop_front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fr_lst.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pop_front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</a:t>
            </a:r>
            <a:endParaRPr lang="en-BG" sz="1400" dirty="0"/>
          </a:p>
        </p:txBody>
      </p:sp>
    </p:spTree>
    <p:extLst>
      <p:ext uri="{BB962C8B-B14F-4D97-AF65-F5344CB8AC3E}">
        <p14:creationId xmlns:p14="http://schemas.microsoft.com/office/powerpoint/2010/main" val="2331820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611B-E849-F416-8411-BF7471C20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3A5D-EDAC-2A5E-7771-2C16324E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Deque</a:t>
            </a:r>
          </a:p>
        </p:txBody>
      </p:sp>
      <p:pic>
        <p:nvPicPr>
          <p:cNvPr id="13316" name="Picture 4" descr="Deque-Representatio">
            <a:extLst>
              <a:ext uri="{FF2B5EF4-FFF2-40B4-BE49-F238E27FC236}">
                <a16:creationId xmlns:a16="http://schemas.microsoft.com/office/drawing/2014/main" id="{F58F95D2-56BE-C29B-2EEF-B57132651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2497138"/>
            <a:ext cx="9410700" cy="26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768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215B-E188-EFF0-CDB3-33EE7AC5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741D-2C6A-E78F-3B64-E7DB87B7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Deque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40D79D-EF23-0829-0DDA-ED47D5614EE1}"/>
              </a:ext>
            </a:extLst>
          </p:cNvPr>
          <p:cNvGraphicFramePr>
            <a:graphicFrameLocks noGrp="1"/>
          </p:cNvGraphicFramePr>
          <p:nvPr/>
        </p:nvGraphicFramePr>
        <p:xfrm>
          <a:off x="3161913" y="2541588"/>
          <a:ext cx="6096774" cy="40843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32258">
                  <a:extLst>
                    <a:ext uri="{9D8B030D-6E8A-4147-A177-3AD203B41FA5}">
                      <a16:colId xmlns:a16="http://schemas.microsoft.com/office/drawing/2014/main" val="2034727057"/>
                    </a:ext>
                  </a:extLst>
                </a:gridCol>
                <a:gridCol w="2032258">
                  <a:extLst>
                    <a:ext uri="{9D8B030D-6E8A-4147-A177-3AD203B41FA5}">
                      <a16:colId xmlns:a16="http://schemas.microsoft.com/office/drawing/2014/main" val="3307362363"/>
                    </a:ext>
                  </a:extLst>
                </a:gridCol>
                <a:gridCol w="2032258">
                  <a:extLst>
                    <a:ext uri="{9D8B030D-6E8A-4147-A177-3AD203B41FA5}">
                      <a16:colId xmlns:a16="http://schemas.microsoft.com/office/drawing/2014/main" val="1857901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Method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 dirty="0">
                          <a:effectLst/>
                        </a:rPr>
                        <a:t>Time Complexity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b="0">
                          <a:effectLst/>
                        </a:rPr>
                        <a:t>Space Complexity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81552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operator[] / at()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787306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787643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back()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421230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 err="1">
                          <a:effectLst/>
                        </a:rPr>
                        <a:t>push_back</a:t>
                      </a:r>
                      <a:r>
                        <a:rPr lang="en-GB" dirty="0">
                          <a:effectLst/>
                        </a:rPr>
                        <a:t>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78120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push_front()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88267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pop_back()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589620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pop_front()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781223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size()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366787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empty()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013334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clear()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>
                          <a:effectLst/>
                        </a:rPr>
                        <a:t>O(n)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dirty="0">
                          <a:effectLst/>
                        </a:rPr>
                        <a:t>O(1)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20310646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6DBF534F-95AA-D0B0-DDA0-8B924396D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950" y="1690688"/>
            <a:ext cx="66421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58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7AFC-7DFB-FC9D-6D47-04537B2B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038C-84CA-4759-87E2-A945D8DE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Deque in Practice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5B007-FD08-2C01-95AD-82653845CEB1}"/>
              </a:ext>
            </a:extLst>
          </p:cNvPr>
          <p:cNvSpPr txBox="1"/>
          <p:nvPr/>
        </p:nvSpPr>
        <p:spPr>
          <a:xfrm>
            <a:off x="2934890" y="1690688"/>
            <a:ext cx="6322219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&lt;iostream&gt;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&lt;deque&gt;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std;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main()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{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deque&lt;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dq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dq.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push_back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 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added element at the back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dq.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push_front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added element at the front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dq.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push_back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 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added element at the back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dq.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push_front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added element at the front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deque&lt;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&gt;::iterator it;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"The deque 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dq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 is: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(it 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dq.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it !=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dq.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it++)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{	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*it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}</a:t>
            </a:r>
            <a:endParaRPr lang="en-BG" sz="1400" dirty="0"/>
          </a:p>
        </p:txBody>
      </p:sp>
    </p:spTree>
    <p:extLst>
      <p:ext uri="{BB962C8B-B14F-4D97-AF65-F5344CB8AC3E}">
        <p14:creationId xmlns:p14="http://schemas.microsoft.com/office/powerpoint/2010/main" val="2967601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FDA2-4B73-ADB6-2F6C-9C8E97717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610E-84AB-B1CF-A39B-03DE4B39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Deque Exercise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18C41-4BF9-201A-15B2-A71E78167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46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000" dirty="0"/>
              <a:t>Задача: Опашка в ресторант</a:t>
            </a:r>
          </a:p>
          <a:p>
            <a:pPr marL="0" indent="0">
              <a:buNone/>
            </a:pPr>
            <a:endParaRPr lang="bg-BG" sz="2000" dirty="0"/>
          </a:p>
          <a:p>
            <a:pPr marL="0" indent="0">
              <a:buNone/>
            </a:pPr>
            <a:r>
              <a:rPr lang="bg-BG" sz="2000" dirty="0"/>
              <a:t>Създай </a:t>
            </a:r>
            <a:r>
              <a:rPr lang="en-GB" sz="2000" dirty="0"/>
              <a:t>std::deque&lt;string&gt; </a:t>
            </a:r>
            <a:r>
              <a:rPr lang="bg-BG" sz="2000" dirty="0"/>
              <a:t>за имена на клиенти. Използвай </a:t>
            </a:r>
            <a:r>
              <a:rPr lang="en-GB" sz="2000" dirty="0" err="1"/>
              <a:t>push_back</a:t>
            </a:r>
            <a:r>
              <a:rPr lang="en-GB" sz="2000" dirty="0"/>
              <a:t>() </a:t>
            </a:r>
            <a:r>
              <a:rPr lang="bg-BG" sz="2000" dirty="0"/>
              <a:t>за добавяне на нови клиенти отзад, </a:t>
            </a:r>
            <a:r>
              <a:rPr lang="en-GB" sz="2000" dirty="0" err="1"/>
              <a:t>push_front</a:t>
            </a:r>
            <a:r>
              <a:rPr lang="en-GB" sz="2000" dirty="0"/>
              <a:t>() </a:t>
            </a:r>
            <a:r>
              <a:rPr lang="bg-BG" sz="2000" dirty="0"/>
              <a:t>за </a:t>
            </a:r>
            <a:r>
              <a:rPr lang="en-GB" sz="2000" dirty="0"/>
              <a:t>VIP </a:t>
            </a:r>
            <a:r>
              <a:rPr lang="bg-BG" sz="2000" dirty="0"/>
              <a:t>клиенти отпред, </a:t>
            </a:r>
            <a:r>
              <a:rPr lang="en-GB" sz="2000" dirty="0" err="1"/>
              <a:t>pop_front</a:t>
            </a:r>
            <a:r>
              <a:rPr lang="en-GB" sz="2000" dirty="0"/>
              <a:t>() </a:t>
            </a:r>
            <a:r>
              <a:rPr lang="bg-BG" sz="2000" dirty="0"/>
              <a:t>за обслужване на следващия клиент, и </a:t>
            </a:r>
            <a:r>
              <a:rPr lang="en-GB" sz="2000" dirty="0"/>
              <a:t>front() </a:t>
            </a:r>
            <a:r>
              <a:rPr lang="bg-BG" sz="2000" dirty="0"/>
              <a:t>за преглед кой е на ред.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std::deque&lt;std::string&gt; queue;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push_back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за редовни клиенти</a:t>
            </a:r>
          </a:p>
          <a:p>
            <a:pPr marL="0" indent="0">
              <a:buNone/>
            </a:pP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push_front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за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VIP </a:t>
            </a: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клиенти</a:t>
            </a:r>
          </a:p>
          <a:p>
            <a:pPr marL="0" indent="0">
              <a:buNone/>
            </a:pP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pop_front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за обслужване</a:t>
            </a:r>
          </a:p>
          <a:p>
            <a:pPr marL="0" indent="0">
              <a:buNone/>
            </a:pP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front() </a:t>
            </a:r>
            <a:r>
              <a:rPr lang="bg-BG" sz="2000" dirty="0">
                <a:latin typeface="Consolas" panose="020B0609020204030204" pitchFamily="49" charset="0"/>
                <a:cs typeface="Consolas" panose="020B0609020204030204" pitchFamily="49" charset="0"/>
              </a:rPr>
              <a:t>за преглед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01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10B33-4AC0-3A2F-3752-EB614C94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9C73-CAAE-F0E5-20D8-57002CAE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List</a:t>
            </a:r>
          </a:p>
        </p:txBody>
      </p:sp>
      <p:pic>
        <p:nvPicPr>
          <p:cNvPr id="18434" name="Picture 2" descr="C++ STL  list implementation showing its doubly linked nature">
            <a:extLst>
              <a:ext uri="{FF2B5EF4-FFF2-40B4-BE49-F238E27FC236}">
                <a16:creationId xmlns:a16="http://schemas.microsoft.com/office/drawing/2014/main" id="{101AE04A-3971-3E9D-1EBA-6A6D717FB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403" y="2338387"/>
            <a:ext cx="9949194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69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0317-8EF9-C23C-481C-03476040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C1F1-ED4C-FF95-21E2-5C804B5D4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</a:t>
            </a:r>
            <a:br>
              <a:rPr lang="en-BG" sz="3600" dirty="0"/>
            </a:br>
            <a:r>
              <a:rPr lang="en-BG" sz="3600" dirty="0"/>
              <a:t>List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7BFF65-1BAA-9C5E-612C-595B422CB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961099"/>
              </p:ext>
            </p:extLst>
          </p:nvPr>
        </p:nvGraphicFramePr>
        <p:xfrm>
          <a:off x="2576512" y="2173294"/>
          <a:ext cx="7038975" cy="435133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46325">
                  <a:extLst>
                    <a:ext uri="{9D8B030D-6E8A-4147-A177-3AD203B41FA5}">
                      <a16:colId xmlns:a16="http://schemas.microsoft.com/office/drawing/2014/main" val="3448954180"/>
                    </a:ext>
                  </a:extLst>
                </a:gridCol>
                <a:gridCol w="2346325">
                  <a:extLst>
                    <a:ext uri="{9D8B030D-6E8A-4147-A177-3AD203B41FA5}">
                      <a16:colId xmlns:a16="http://schemas.microsoft.com/office/drawing/2014/main" val="1546600499"/>
                    </a:ext>
                  </a:extLst>
                </a:gridCol>
                <a:gridCol w="2346325">
                  <a:extLst>
                    <a:ext uri="{9D8B030D-6E8A-4147-A177-3AD203B41FA5}">
                      <a16:colId xmlns:a16="http://schemas.microsoft.com/office/drawing/2014/main" val="2682333959"/>
                    </a:ext>
                  </a:extLst>
                </a:gridCol>
              </a:tblGrid>
              <a:tr h="385562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sz="1600" b="0">
                          <a:effectLst/>
                        </a:rPr>
                        <a:t>Method</a:t>
                      </a:r>
                    </a:p>
                  </a:txBody>
                  <a:tcPr marL="68850" marR="68850" marT="68850" marB="6885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sz="1600" b="0">
                          <a:effectLst/>
                        </a:rPr>
                        <a:t>Time Complexity</a:t>
                      </a:r>
                    </a:p>
                  </a:txBody>
                  <a:tcPr marL="68850" marR="68850" marT="68850" marB="6885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GB" sz="1600" b="0">
                          <a:effectLst/>
                        </a:rPr>
                        <a:t>Space Complexity</a:t>
                      </a:r>
                    </a:p>
                  </a:txBody>
                  <a:tcPr marL="68850" marR="68850" marT="68850" marB="68850"/>
                </a:tc>
                <a:extLst>
                  <a:ext uri="{0D108BD9-81ED-4DB2-BD59-A6C34878D82A}">
                    <a16:rowId xmlns:a16="http://schemas.microsoft.com/office/drawing/2014/main" val="561283560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front()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1103238428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back()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1727016893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push_back()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1289578000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 dirty="0" err="1">
                          <a:effectLst/>
                        </a:rPr>
                        <a:t>push_front</a:t>
                      </a:r>
                      <a:r>
                        <a:rPr lang="en-GB" sz="1600" dirty="0">
                          <a:effectLst/>
                        </a:rPr>
                        <a:t>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2408533869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pop_back()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3713160979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pop_front()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2849269001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insert()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O(1)*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2440146917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erase()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O(1)*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2188964293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size()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201354395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empty()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3223580011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clear()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O(n)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3108196174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 dirty="0">
                          <a:effectLst/>
                        </a:rPr>
                        <a:t>sort()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 dirty="0">
                          <a:effectLst/>
                        </a:rPr>
                        <a:t>O(n log n)</a:t>
                      </a:r>
                    </a:p>
                  </a:txBody>
                  <a:tcPr marL="68850" marR="68850" marT="41310" marB="4131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GB" sz="1600" dirty="0">
                          <a:effectLst/>
                        </a:rPr>
                        <a:t>O(1)</a:t>
                      </a:r>
                    </a:p>
                  </a:txBody>
                  <a:tcPr marL="68850" marR="68850" marT="41310" marB="41310" anchor="ctr"/>
                </a:tc>
                <a:extLst>
                  <a:ext uri="{0D108BD9-81ED-4DB2-BD59-A6C34878D82A}">
                    <a16:rowId xmlns:a16="http://schemas.microsoft.com/office/drawing/2014/main" val="146216363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29F5877-D2C7-A295-203B-9343D63E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49" y="1233488"/>
            <a:ext cx="76073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5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BF2C-8107-BC2E-587A-235C22BF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A0D3-C078-2808-AA02-B54180D8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G" sz="3600" dirty="0"/>
              <a:t>Sequential Containers in C++ List in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2BC8D-9C6D-02D2-B4BD-A8C38E67F703}"/>
              </a:ext>
            </a:extLst>
          </p:cNvPr>
          <p:cNvSpPr txBox="1"/>
          <p:nvPr/>
        </p:nvSpPr>
        <p:spPr>
          <a:xfrm>
            <a:off x="3045619" y="1379577"/>
            <a:ext cx="6100762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   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&lt;iostream&gt;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&lt;iterator&gt;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#include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&lt;list&gt;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std;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main()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61AEEE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{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	list&lt;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lst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	list&lt;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&gt;::iterator it;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++) 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{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1" dirty="0">
                <a:solidFill>
                  <a:srgbClr val="B18EB1"/>
                </a:solidFill>
                <a:effectLst/>
                <a:latin typeface="Courier New" panose="02070309020205020404" pitchFamily="49" charset="0"/>
              </a:rPr>
              <a:t>// adding element to the back</a:t>
            </a: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lst.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push_back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GB" sz="1400" b="0" i="0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}</a:t>
            </a:r>
          </a:p>
          <a:p>
            <a:pPr algn="l">
              <a:buNone/>
            </a:pPr>
            <a:endParaRPr lang="en-GB" sz="1400" dirty="0">
              <a:solidFill>
                <a:srgbClr val="ABB2BF"/>
              </a:solidFill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"List (</a:t>
            </a:r>
            <a:r>
              <a:rPr lang="en-GB" sz="1400" b="0" i="0" dirty="0" err="1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lst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) is -&gt;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GB" sz="1400" b="0" i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>
                <a:solidFill>
                  <a:srgbClr val="F926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(it 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lst.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it !=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lst.</a:t>
            </a:r>
            <a:r>
              <a:rPr lang="en-GB" sz="1400" b="0" i="0" dirty="0" err="1">
                <a:solidFill>
                  <a:srgbClr val="E6C07B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(); ++it)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{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*it &lt;&lt; </a:t>
            </a:r>
            <a:r>
              <a:rPr lang="en-GB" sz="1400" b="0" i="0" dirty="0">
                <a:solidFill>
                  <a:srgbClr val="98C37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}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cout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&lt;&lt; </a:t>
            </a:r>
            <a:r>
              <a:rPr lang="en-GB" sz="1400" b="0" i="0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endl</a:t>
            </a:r>
            <a:r>
              <a:rPr lang="en-GB" sz="1400" b="0" i="0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;</a:t>
            </a:r>
            <a:endParaRPr lang="en-BG" sz="1400" dirty="0"/>
          </a:p>
        </p:txBody>
      </p:sp>
    </p:spTree>
    <p:extLst>
      <p:ext uri="{BB962C8B-B14F-4D97-AF65-F5344CB8AC3E}">
        <p14:creationId xmlns:p14="http://schemas.microsoft.com/office/powerpoint/2010/main" val="1960667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ABB7-7488-3647-4BA4-AA61D398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BBE0-D8D4-32AA-954D-21AE5276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Източници</a:t>
            </a:r>
            <a:endParaRPr lang="en-B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41FB4-F822-D1DA-CDE2-A8BECDA2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2060" cy="4351338"/>
          </a:xfrm>
        </p:spPr>
        <p:txBody>
          <a:bodyPr>
            <a:normAutofit/>
          </a:bodyPr>
          <a:lstStyle/>
          <a:p>
            <a:r>
              <a:rPr lang="en-GB" sz="2000" dirty="0">
                <a:hlinkClick r:id="rId2"/>
              </a:rPr>
              <a:t>https://www.scaler.com/topics/cpp/containers-in-cpp/</a:t>
            </a:r>
            <a:endParaRPr lang="en-GB" sz="2000" dirty="0"/>
          </a:p>
          <a:p>
            <a:r>
              <a:rPr lang="en-GB" sz="2000" dirty="0">
                <a:hlinkClick r:id="rId3"/>
              </a:rPr>
              <a:t>https://alyssaq.github.io/stl-complexities/</a:t>
            </a:r>
            <a:endParaRPr lang="en-GB" sz="2000" dirty="0"/>
          </a:p>
          <a:p>
            <a:r>
              <a:rPr lang="en-GB" sz="2000" dirty="0">
                <a:hlinkClick r:id="rId4"/>
              </a:rPr>
              <a:t>https://www.geeksforgeeks.org/cpp/analysis-of-time-and-space-complexity-of-stl-containers/</a:t>
            </a:r>
            <a:endParaRPr lang="en-GB" sz="2000" dirty="0"/>
          </a:p>
          <a:p>
            <a:r>
              <a:rPr lang="en-GB" sz="2000" dirty="0">
                <a:hlinkClick r:id="rId3"/>
              </a:rPr>
              <a:t>https://alyssaq.github.io/stl-complexities/</a:t>
            </a:r>
            <a:endParaRPr lang="en-GB" sz="2000" dirty="0"/>
          </a:p>
          <a:p>
            <a:r>
              <a:rPr lang="en-GB" sz="2000" dirty="0">
                <a:hlinkClick r:id="rId5"/>
              </a:rPr>
              <a:t>https://www.programiz.com/cpp-programming/vectors</a:t>
            </a:r>
            <a:endParaRPr lang="en-GB" sz="2000" dirty="0"/>
          </a:p>
          <a:p>
            <a:r>
              <a:rPr lang="en-GB" sz="2000" dirty="0">
                <a:hlinkClick r:id="rId6"/>
              </a:rPr>
              <a:t>https://www.geeksforgeeks.org/cpp/containers-cpp-stl</a:t>
            </a:r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bg-BG" sz="2000" dirty="0"/>
          </a:p>
          <a:p>
            <a:endParaRPr lang="en-BG" sz="2000" dirty="0"/>
          </a:p>
        </p:txBody>
      </p:sp>
    </p:spTree>
    <p:extLst>
      <p:ext uri="{BB962C8B-B14F-4D97-AF65-F5344CB8AC3E}">
        <p14:creationId xmlns:p14="http://schemas.microsoft.com/office/powerpoint/2010/main" val="1761680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1667</Words>
  <Application>Microsoft Macintosh PowerPoint</Application>
  <PresentationFormat>Widescreen</PresentationFormat>
  <Paragraphs>335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Courier New</vt:lpstr>
      <vt:lpstr>Office Theme</vt:lpstr>
      <vt:lpstr>Линейни Структури  от Данни</vt:lpstr>
      <vt:lpstr>Основи на Структурите от Данни</vt:lpstr>
      <vt:lpstr>Структури от Данни Типове</vt:lpstr>
      <vt:lpstr>Структури от Данни в  Обектно-Ориентираното Програмиране (ООП)</vt:lpstr>
      <vt:lpstr>Sequential Containers in C++</vt:lpstr>
      <vt:lpstr>Sequential Containers in C++ Array</vt:lpstr>
      <vt:lpstr>Sequential Containers in C++ Array in Practice</vt:lpstr>
      <vt:lpstr>Sequential Containers in C++ Vector</vt:lpstr>
      <vt:lpstr>Sequential Containers in C++ Vector in Practice</vt:lpstr>
      <vt:lpstr>Sequential Containers in C++ Forward List</vt:lpstr>
      <vt:lpstr>Sequential Containers in C++ Forward List</vt:lpstr>
      <vt:lpstr>Sequential Containers in C++ Forward List in Practice</vt:lpstr>
      <vt:lpstr>Sequential Containers in C++ Deque</vt:lpstr>
      <vt:lpstr>Sequential Containers in C++ Deque</vt:lpstr>
      <vt:lpstr>Sequential Containers in C++ Deque in Practice</vt:lpstr>
      <vt:lpstr>Sequential Containers in C++ Deque Exercise</vt:lpstr>
      <vt:lpstr>Sequential Containers in C++ List</vt:lpstr>
      <vt:lpstr>Sequential Containers in C++ List</vt:lpstr>
      <vt:lpstr>Sequential Containers in C++ List in Practice</vt:lpstr>
      <vt:lpstr>Източници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Aytov, Aleksandar</dc:creator>
  <cp:lastModifiedBy>Aytov, Aleksandar</cp:lastModifiedBy>
  <cp:revision>1</cp:revision>
  <dcterms:created xsi:type="dcterms:W3CDTF">2025-10-09T11:57:34Z</dcterms:created>
  <dcterms:modified xsi:type="dcterms:W3CDTF">2025-10-10T12:16:14Z</dcterms:modified>
</cp:coreProperties>
</file>